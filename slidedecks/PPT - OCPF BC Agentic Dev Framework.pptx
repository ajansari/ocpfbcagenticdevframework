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20"/>
    <p:restoredTop sz="94610"/>
  </p:normalViewPr>
  <p:slideViewPr>
    <p:cSldViewPr snapToGrid="0" snapToObjects="1">
      <p:cViewPr varScale="1">
        <p:scale>
          <a:sx n="78" d="100"/>
          <a:sy n="78" d="100"/>
        </p:scale>
        <p:origin x="39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1863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tagline. The framework is a runbook: four phases, twelve steps, an exit gate on every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Shapes are consistent across every schematic. Colors mark the three roles; if 1.7 is not configured, one model does all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picture: four phases in sequence, ALL ALONG running underneath all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rule: do not start a step until its predecessor's exit gate is 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BUILD's gate for step 06 requires no compile. PROVE ends at UAT readiness.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1.7 is not configured, everything runs through one model. If it is, the three-role division is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one. Nothing is inferred here; it is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step: inputs in, actions, outputs out, then the 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two. The TDD has to be self-sufficient — buildable without going back to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drafts come from the Reasoning role; the Main role integrates and carries them to the human.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phase most reshaped by the project's own lessons: no per-batch compile, symbol-verified lint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06 repeats per batch: approve, generate, two pre-flight passes, coverage across all batches so far.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Operating Rule 4. One compile, then a root-cause loop until zero and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four. Prove it does what the FRD said, then leave documentation behind.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three-way comparison is the heart of step 08. Gap-fill work gets its own pass through 05/06/07.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Steps 10 to 12 leave the documentation set behind: as-built TDD, updated FRD, and four documents.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disciplines that never stop. Documentation is kept current, not reconstructed afterwards.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tagline and the credit.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7750" y="914400"/>
            <a:ext cx="4048125" cy="95250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095875" y="914400"/>
            <a:ext cx="4048125" cy="95250"/>
          </a:xfrm>
          <a:prstGeom prst="rect">
            <a:avLst/>
          </a:prstGeom>
          <a:solidFill>
            <a:srgbClr val="0A7C8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144000" y="914400"/>
            <a:ext cx="4048125" cy="95250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3192125" y="914400"/>
            <a:ext cx="4048125" cy="95250"/>
          </a:xfrm>
          <a:prstGeom prst="rect">
            <a:avLst/>
          </a:prstGeom>
          <a:solidFill>
            <a:srgbClr val="C10E7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1932236"/>
            <a:ext cx="4572000" cy="152779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47750" y="3841031"/>
            <a:ext cx="14716125" cy="24992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87297"/>
              </a:lnSpc>
              <a:buNone/>
            </a:pPr>
            <a:r>
              <a:rPr lang="en-US" sz="10200" b="1" kern="0" spc="-306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Agentic Development Framework for D365 BC</a:t>
            </a:r>
            <a:endParaRPr lang="en-US" sz="10200" dirty="0"/>
          </a:p>
        </p:txBody>
      </p:sp>
      <p:sp>
        <p:nvSpPr>
          <p:cNvPr id="8" name="Shape 5"/>
          <p:cNvSpPr/>
          <p:nvPr/>
        </p:nvSpPr>
        <p:spPr>
          <a:xfrm>
            <a:off x="1047750" y="6721301"/>
            <a:ext cx="161925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047750" y="7159451"/>
            <a:ext cx="12165330" cy="1038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130"/>
              </a:lnSpc>
              <a:buNone/>
            </a:pPr>
            <a:r>
              <a:rPr lang="en-US" sz="31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Simple Enough for Functional Consultants</a:t>
            </a:r>
            <a:r>
              <a:rPr lang="en-US" sz="3150" b="1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. </a:t>
            </a:r>
          </a:p>
          <a:p>
            <a:pPr marL="0" indent="0" algn="l">
              <a:lnSpc>
                <a:spcPct val="114130"/>
              </a:lnSpc>
              <a:buNone/>
            </a:pPr>
            <a:r>
              <a:rPr lang="en-US" sz="3150" b="1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Robust </a:t>
            </a:r>
            <a:r>
              <a:rPr lang="en-US" sz="31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Enough for Pro Developers.</a:t>
            </a:r>
            <a:endParaRPr lang="en-US" sz="3150" dirty="0"/>
          </a:p>
        </p:txBody>
      </p:sp>
      <p:sp>
        <p:nvSpPr>
          <p:cNvPr id="10" name="Text 7"/>
          <p:cNvSpPr/>
          <p:nvPr/>
        </p:nvSpPr>
        <p:spPr>
          <a:xfrm>
            <a:off x="1047750" y="9082088"/>
            <a:ext cx="4962079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Created by AJ Ansari, Microsoft MVP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11619905" y="9124950"/>
            <a:ext cx="618238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Playbook — four phases, twelve steps, twelve gates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5229284" y="982980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7D79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8200" y="533400"/>
            <a:ext cx="1827276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READING THE SCHEMATICS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38200" y="876300"/>
            <a:ext cx="1827276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1892"/>
              </a:lnSpc>
              <a:buNone/>
            </a:pPr>
            <a:r>
              <a:rPr lang="en-US" sz="5100" b="1" kern="0" spc="-102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Shapes and roles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838200" y="1714500"/>
            <a:ext cx="166116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38200" y="2057400"/>
            <a:ext cx="898470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SHAPE LEGEND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38200" y="2533650"/>
            <a:ext cx="1595958" cy="514350"/>
          </a:xfrm>
          <a:prstGeom prst="roundRect">
            <a:avLst>
              <a:gd name="adj" fmla="val 50000"/>
            </a:avLst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104900" y="2667000"/>
            <a:ext cx="113875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Start / end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219450" y="2652713"/>
            <a:ext cx="3215365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Start or end point of a flow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838200" y="3276600"/>
            <a:ext cx="1220167" cy="514350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104900" y="3409950"/>
            <a:ext cx="76296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Action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219450" y="3395663"/>
            <a:ext cx="330966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 action, step, or process</a:t>
            </a:r>
            <a:endParaRPr lang="en-US" sz="2025" dirty="0"/>
          </a:p>
        </p:txBody>
      </p:sp>
      <p:sp>
        <p:nvSpPr>
          <p:cNvPr id="12" name="Shape 10"/>
          <p:cNvSpPr/>
          <p:nvPr/>
        </p:nvSpPr>
        <p:spPr>
          <a:xfrm>
            <a:off x="792853" y="4019550"/>
            <a:ext cx="1052272" cy="51435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92853" y="4514556"/>
            <a:ext cx="1052272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2853" y="4019550"/>
            <a:ext cx="1052272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92853" y="4019550"/>
            <a:ext cx="19050" cy="5143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826075" y="4019550"/>
            <a:ext cx="19050" cy="5143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104900" y="4156454"/>
            <a:ext cx="504379" cy="2786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856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Doc</a:t>
            </a:r>
            <a:endParaRPr lang="en-US" sz="1856" dirty="0"/>
          </a:p>
        </p:txBody>
      </p:sp>
      <p:sp>
        <p:nvSpPr>
          <p:cNvPr id="18" name="Text 16"/>
          <p:cNvSpPr/>
          <p:nvPr/>
        </p:nvSpPr>
        <p:spPr>
          <a:xfrm>
            <a:off x="3219450" y="4138613"/>
            <a:ext cx="438655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Input or output — data, a document</a:t>
            </a:r>
            <a:endParaRPr lang="en-US" sz="2025" dirty="0"/>
          </a:p>
        </p:txBody>
      </p:sp>
      <p:sp>
        <p:nvSpPr>
          <p:cNvPr id="19" name="Shape 17"/>
          <p:cNvSpPr/>
          <p:nvPr/>
        </p:nvSpPr>
        <p:spPr>
          <a:xfrm>
            <a:off x="838200" y="4762500"/>
            <a:ext cx="1677814" cy="4762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19200" y="4876800"/>
            <a:ext cx="99201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Exit gate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219450" y="4862513"/>
            <a:ext cx="585389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 exit gate — the checkpoint that must be met</a:t>
            </a:r>
            <a:endParaRPr lang="en-US" sz="2025" dirty="0"/>
          </a:p>
        </p:txBody>
      </p:sp>
      <p:sp>
        <p:nvSpPr>
          <p:cNvPr id="22" name="Shape 20"/>
          <p:cNvSpPr/>
          <p:nvPr/>
        </p:nvSpPr>
        <p:spPr>
          <a:xfrm>
            <a:off x="838200" y="5467350"/>
            <a:ext cx="1800523" cy="552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57250" y="5486400"/>
            <a:ext cx="1762423" cy="514350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95400" y="5619750"/>
            <a:ext cx="96232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Choice?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219450" y="5605463"/>
            <a:ext cx="199375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decision point</a:t>
            </a:r>
            <a:endParaRPr lang="en-US" sz="2025" dirty="0"/>
          </a:p>
        </p:txBody>
      </p:sp>
      <p:sp>
        <p:nvSpPr>
          <p:cNvPr id="26" name="Shape 24"/>
          <p:cNvSpPr/>
          <p:nvPr/>
        </p:nvSpPr>
        <p:spPr>
          <a:xfrm>
            <a:off x="838200" y="6248400"/>
            <a:ext cx="1446461" cy="514350"/>
          </a:xfrm>
          <a:prstGeom prst="rect">
            <a:avLst/>
          </a:prstGeom>
          <a:ln w="19050">
            <a:solidFill>
              <a:srgbClr val="201E1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104900" y="6381750"/>
            <a:ext cx="98926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All along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3219450" y="6367463"/>
            <a:ext cx="555577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cross-cutting concern, running underneath</a:t>
            </a:r>
            <a:endParaRPr lang="en-US" sz="2025" dirty="0"/>
          </a:p>
        </p:txBody>
      </p:sp>
      <p:sp>
        <p:nvSpPr>
          <p:cNvPr id="29" name="Shape 27"/>
          <p:cNvSpPr/>
          <p:nvPr/>
        </p:nvSpPr>
        <p:spPr>
          <a:xfrm>
            <a:off x="9539511" y="2057400"/>
            <a:ext cx="19050" cy="769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091961" y="2057400"/>
            <a:ext cx="809362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ROLE LEGEND — §1.7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0091961" y="2552700"/>
            <a:ext cx="190500" cy="533400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0511061" y="2552700"/>
            <a:ext cx="7362408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Main role</a:t>
            </a:r>
            <a:endParaRPr lang="en-US" sz="2250" dirty="0"/>
          </a:p>
        </p:txBody>
      </p:sp>
      <p:sp>
        <p:nvSpPr>
          <p:cNvPr id="33" name="Text 31"/>
          <p:cNvSpPr/>
          <p:nvPr/>
        </p:nvSpPr>
        <p:spPr>
          <a:xfrm>
            <a:off x="10511061" y="2867025"/>
            <a:ext cx="7362408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4441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Generates and edits all code; owns the continuity documents.</a:t>
            </a:r>
            <a:endParaRPr lang="en-US" sz="1950" dirty="0"/>
          </a:p>
        </p:txBody>
      </p:sp>
      <p:sp>
        <p:nvSpPr>
          <p:cNvPr id="34" name="Shape 32"/>
          <p:cNvSpPr/>
          <p:nvPr/>
        </p:nvSpPr>
        <p:spPr>
          <a:xfrm>
            <a:off x="10091961" y="3386138"/>
            <a:ext cx="190500" cy="533400"/>
          </a:xfrm>
          <a:prstGeom prst="rect">
            <a:avLst/>
          </a:prstGeom>
          <a:solidFill>
            <a:srgbClr val="0A7C8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0511061" y="3386138"/>
            <a:ext cx="7215887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Light role</a:t>
            </a:r>
            <a:endParaRPr lang="en-US" sz="2250" dirty="0"/>
          </a:p>
        </p:txBody>
      </p:sp>
      <p:sp>
        <p:nvSpPr>
          <p:cNvPr id="36" name="Text 34"/>
          <p:cNvSpPr/>
          <p:nvPr/>
        </p:nvSpPr>
        <p:spPr>
          <a:xfrm>
            <a:off x="10511061" y="3700463"/>
            <a:ext cx="7215887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4441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Post-generation pre-flight only. Reports findings, never edits.</a:t>
            </a:r>
            <a:endParaRPr lang="en-US" sz="1950" dirty="0"/>
          </a:p>
        </p:txBody>
      </p:sp>
      <p:sp>
        <p:nvSpPr>
          <p:cNvPr id="37" name="Shape 35"/>
          <p:cNvSpPr/>
          <p:nvPr/>
        </p:nvSpPr>
        <p:spPr>
          <a:xfrm>
            <a:off x="10091961" y="4219575"/>
            <a:ext cx="190500" cy="533400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0511061" y="4219575"/>
            <a:ext cx="7632613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Reasoning role</a:t>
            </a:r>
            <a:endParaRPr lang="en-US" sz="2250" dirty="0"/>
          </a:p>
        </p:txBody>
      </p:sp>
      <p:sp>
        <p:nvSpPr>
          <p:cNvPr id="39" name="Text 37"/>
          <p:cNvSpPr/>
          <p:nvPr/>
        </p:nvSpPr>
        <p:spPr>
          <a:xfrm>
            <a:off x="10511061" y="4533900"/>
            <a:ext cx="7146901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4441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Authors, reviews, diagnoses. Never edits code or continuity docs.</a:t>
            </a:r>
            <a:endParaRPr lang="en-US" sz="1950" dirty="0"/>
          </a:p>
        </p:txBody>
      </p:sp>
      <p:sp>
        <p:nvSpPr>
          <p:cNvPr id="40" name="Shape 38"/>
          <p:cNvSpPr/>
          <p:nvPr/>
        </p:nvSpPr>
        <p:spPr>
          <a:xfrm>
            <a:off x="10091961" y="5400675"/>
            <a:ext cx="7357839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10091961" y="5648325"/>
            <a:ext cx="7578574" cy="7561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2281"/>
              </a:lnSpc>
              <a:buNone/>
            </a:pPr>
            <a:r>
              <a:rPr lang="en-US" sz="1950" dirty="0">
                <a:solidFill>
                  <a:srgbClr val="4441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Where §1.7 role assignment isn't configured, every colored step is done by the single running model instead.</a:t>
            </a:r>
            <a:endParaRPr lang="en-US" sz="1950" dirty="0"/>
          </a:p>
        </p:txBody>
      </p:sp>
      <p:sp>
        <p:nvSpPr>
          <p:cNvPr id="42" name="Text 40"/>
          <p:cNvSpPr/>
          <p:nvPr/>
        </p:nvSpPr>
        <p:spPr>
          <a:xfrm>
            <a:off x="15229284" y="982980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7D79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8200" y="533400"/>
            <a:ext cx="1827276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SCHEMATIC 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38200" y="876300"/>
            <a:ext cx="1827276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1892"/>
              </a:lnSpc>
              <a:buNone/>
            </a:pPr>
            <a:r>
              <a:rPr lang="en-US" sz="5100" b="1" kern="0" spc="-102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whole framework in one picture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838200" y="1714500"/>
            <a:ext cx="166116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38200" y="4425330"/>
            <a:ext cx="1905000" cy="1152525"/>
          </a:xfrm>
          <a:prstGeom prst="roundRect">
            <a:avLst>
              <a:gd name="adj" fmla="val 50000"/>
            </a:avLst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66800" y="4692030"/>
            <a:ext cx="15240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35"/>
              </a:lnSpc>
              <a:buNone/>
            </a:pPr>
            <a:r>
              <a:rPr lang="en-US" sz="19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Business Problem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2857500" y="4992067"/>
            <a:ext cx="2857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143250" y="4915867"/>
            <a:ext cx="123825" cy="171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381375" y="7907685"/>
            <a:ext cx="2402681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381375" y="2076450"/>
            <a:ext cx="2402681" cy="133350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381375" y="2076450"/>
            <a:ext cx="19050" cy="585028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765006" y="2076450"/>
            <a:ext cx="19050" cy="585028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29025" y="2419350"/>
            <a:ext cx="209811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0F6CB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PHASE 01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29025" y="2762250"/>
            <a:ext cx="2098119" cy="5572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3750" b="1" kern="0" spc="-7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DEFINE</a:t>
            </a:r>
            <a:endParaRPr lang="en-US" sz="3750" dirty="0"/>
          </a:p>
        </p:txBody>
      </p:sp>
      <p:sp>
        <p:nvSpPr>
          <p:cNvPr id="15" name="Text 13"/>
          <p:cNvSpPr/>
          <p:nvPr/>
        </p:nvSpPr>
        <p:spPr>
          <a:xfrm>
            <a:off x="3629025" y="3376613"/>
            <a:ext cx="1983581" cy="1079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5690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Scope the problem, fill in parameters.</a:t>
            </a:r>
            <a:endParaRPr lang="en-US" sz="2025" dirty="0"/>
          </a:p>
        </p:txBody>
      </p:sp>
      <p:sp>
        <p:nvSpPr>
          <p:cNvPr id="16" name="Text 14"/>
          <p:cNvSpPr/>
          <p:nvPr/>
        </p:nvSpPr>
        <p:spPr>
          <a:xfrm>
            <a:off x="3629025" y="7202835"/>
            <a:ext cx="1983581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PRE-01 · PRE-02 · 01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898356" y="4992067"/>
            <a:ext cx="2857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184106" y="4915867"/>
            <a:ext cx="123825" cy="171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422231" y="7907685"/>
            <a:ext cx="2402681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22231" y="2076450"/>
            <a:ext cx="2402681" cy="133350"/>
          </a:xfrm>
          <a:prstGeom prst="rect">
            <a:avLst/>
          </a:prstGeom>
          <a:solidFill>
            <a:srgbClr val="0A7C8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422231" y="2076450"/>
            <a:ext cx="19050" cy="585028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805863" y="2076450"/>
            <a:ext cx="19050" cy="585028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669881" y="2419350"/>
            <a:ext cx="209811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0A7C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PHASE 02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669881" y="2762250"/>
            <a:ext cx="2098119" cy="5572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3750" b="1" kern="0" spc="-7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DESIGN</a:t>
            </a:r>
            <a:endParaRPr lang="en-US" sz="3750" dirty="0"/>
          </a:p>
        </p:txBody>
      </p:sp>
      <p:sp>
        <p:nvSpPr>
          <p:cNvPr id="25" name="Text 23"/>
          <p:cNvSpPr/>
          <p:nvPr/>
        </p:nvSpPr>
        <p:spPr>
          <a:xfrm>
            <a:off x="6669881" y="3376613"/>
            <a:ext cx="1983581" cy="7323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5690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FRD, plus a self-sufficient TDD.</a:t>
            </a:r>
            <a:endParaRPr lang="en-US" sz="2025" dirty="0"/>
          </a:p>
        </p:txBody>
      </p:sp>
      <p:sp>
        <p:nvSpPr>
          <p:cNvPr id="26" name="Text 24"/>
          <p:cNvSpPr/>
          <p:nvPr/>
        </p:nvSpPr>
        <p:spPr>
          <a:xfrm>
            <a:off x="6669881" y="7450485"/>
            <a:ext cx="209811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 · 03 · 04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939213" y="4992067"/>
            <a:ext cx="2857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9224963" y="4915867"/>
            <a:ext cx="123825" cy="171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9463088" y="7907685"/>
            <a:ext cx="2402681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9463088" y="2076450"/>
            <a:ext cx="2402681" cy="133350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463088" y="2076450"/>
            <a:ext cx="19050" cy="585028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11846719" y="2076450"/>
            <a:ext cx="19050" cy="585028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710738" y="2419350"/>
            <a:ext cx="209811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6B4FC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PHASE 03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710738" y="2762250"/>
            <a:ext cx="2098119" cy="5572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3750" b="1" kern="0" spc="-7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BUILD</a:t>
            </a:r>
            <a:endParaRPr lang="en-US" sz="3750" dirty="0"/>
          </a:p>
        </p:txBody>
      </p:sp>
      <p:sp>
        <p:nvSpPr>
          <p:cNvPr id="35" name="Text 33"/>
          <p:cNvSpPr/>
          <p:nvPr/>
        </p:nvSpPr>
        <p:spPr>
          <a:xfrm>
            <a:off x="9710738" y="3376613"/>
            <a:ext cx="1983581" cy="14266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25690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Generate AL, lint, one mandatory compile.</a:t>
            </a:r>
            <a:endParaRPr lang="en-US" sz="2025" dirty="0"/>
          </a:p>
        </p:txBody>
      </p:sp>
      <p:sp>
        <p:nvSpPr>
          <p:cNvPr id="36" name="Text 34"/>
          <p:cNvSpPr/>
          <p:nvPr/>
        </p:nvSpPr>
        <p:spPr>
          <a:xfrm>
            <a:off x="9710738" y="7450485"/>
            <a:ext cx="209811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05 · 06 · 07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11980069" y="4992067"/>
            <a:ext cx="2857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12265819" y="4915867"/>
            <a:ext cx="123825" cy="171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12503944" y="7907685"/>
            <a:ext cx="2402681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12503944" y="2076450"/>
            <a:ext cx="2402681" cy="133350"/>
          </a:xfrm>
          <a:prstGeom prst="rect">
            <a:avLst/>
          </a:prstGeom>
          <a:solidFill>
            <a:srgbClr val="C10E7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2503944" y="2076450"/>
            <a:ext cx="19050" cy="585028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14887575" y="2076450"/>
            <a:ext cx="19050" cy="585028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12751594" y="2419350"/>
            <a:ext cx="209811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216" dirty="0">
                <a:solidFill>
                  <a:srgbClr val="C10E7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PHASE 04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751594" y="2762250"/>
            <a:ext cx="2098119" cy="5572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3750" b="1" kern="0" spc="-7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PROVE</a:t>
            </a:r>
            <a:endParaRPr lang="en-US" sz="3750" dirty="0"/>
          </a:p>
        </p:txBody>
      </p:sp>
      <p:sp>
        <p:nvSpPr>
          <p:cNvPr id="45" name="Text 43"/>
          <p:cNvSpPr/>
          <p:nvPr/>
        </p:nvSpPr>
        <p:spPr>
          <a:xfrm>
            <a:off x="12751594" y="3376613"/>
            <a:ext cx="1983581" cy="1079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5690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Test, review, document, package.</a:t>
            </a:r>
            <a:endParaRPr lang="en-US" sz="2025" dirty="0"/>
          </a:p>
        </p:txBody>
      </p:sp>
      <p:sp>
        <p:nvSpPr>
          <p:cNvPr id="46" name="Text 44"/>
          <p:cNvSpPr/>
          <p:nvPr/>
        </p:nvSpPr>
        <p:spPr>
          <a:xfrm>
            <a:off x="12751594" y="7202835"/>
            <a:ext cx="1983581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08 · 09 · 10 · 11 · 12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15020925" y="4992067"/>
            <a:ext cx="2857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5306675" y="4915867"/>
            <a:ext cx="123825" cy="171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15544800" y="4270549"/>
            <a:ext cx="1885950" cy="1462088"/>
          </a:xfrm>
          <a:prstGeom prst="ellipse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15773400" y="4537249"/>
            <a:ext cx="1676400" cy="966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4035"/>
              </a:lnSpc>
              <a:buNone/>
            </a:pPr>
            <a:r>
              <a:rPr lang="en-US" sz="19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Deployed, Documented App</a:t>
            </a:r>
            <a:endParaRPr lang="en-US" sz="1950" dirty="0"/>
          </a:p>
        </p:txBody>
      </p:sp>
      <p:sp>
        <p:nvSpPr>
          <p:cNvPr id="51" name="Shape 49"/>
          <p:cNvSpPr/>
          <p:nvPr/>
        </p:nvSpPr>
        <p:spPr>
          <a:xfrm>
            <a:off x="4448473" y="8193435"/>
            <a:ext cx="171450" cy="12382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4524673" y="8317260"/>
            <a:ext cx="19050" cy="2476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7521625" y="8193435"/>
            <a:ext cx="171450" cy="12382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597825" y="8317260"/>
            <a:ext cx="19050" cy="2476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10594777" y="8193435"/>
            <a:ext cx="171450" cy="12382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10670977" y="8317260"/>
            <a:ext cx="19050" cy="2476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13667854" y="8193435"/>
            <a:ext cx="171450" cy="12382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13744054" y="8317260"/>
            <a:ext cx="19050" cy="2476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838200" y="8564910"/>
            <a:ext cx="16611600" cy="1188690"/>
          </a:xfrm>
          <a:prstGeom prst="rect">
            <a:avLst/>
          </a:prstGeom>
          <a:ln w="19050">
            <a:solidFill>
              <a:srgbClr val="201E1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1162050" y="8983042"/>
            <a:ext cx="2113263" cy="39052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ALL ALONG</a:t>
            </a:r>
            <a:endParaRPr lang="en-US" sz="2550" dirty="0"/>
          </a:p>
        </p:txBody>
      </p:sp>
      <p:sp>
        <p:nvSpPr>
          <p:cNvPr id="61" name="Shape 59"/>
          <p:cNvSpPr/>
          <p:nvPr/>
        </p:nvSpPr>
        <p:spPr>
          <a:xfrm>
            <a:off x="3426098" y="8930655"/>
            <a:ext cx="14213" cy="457200"/>
          </a:xfrm>
          <a:prstGeom prst="rect">
            <a:avLst/>
          </a:prstGeom>
          <a:solidFill>
            <a:srgbClr val="C9C6C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3783211" y="8812560"/>
            <a:ext cx="13743021" cy="7314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7719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Continuous discipline runs underneath every phase — documentation, change tracking, retained explanations, testing feedback, project memory, packaging, tooling.</a:t>
            </a:r>
            <a:endParaRPr lang="en-US" sz="1950" dirty="0"/>
          </a:p>
        </p:txBody>
      </p:sp>
      <p:sp>
        <p:nvSpPr>
          <p:cNvPr id="63" name="Text 61"/>
          <p:cNvSpPr/>
          <p:nvPr/>
        </p:nvSpPr>
        <p:spPr>
          <a:xfrm>
            <a:off x="15229284" y="982980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7D79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8200" y="457200"/>
            <a:ext cx="1827276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SCHEMATIC 2 — STEP AND GATE FLOW, PART ONE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38200" y="781050"/>
            <a:ext cx="1827276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2308"/>
              </a:lnSpc>
              <a:buNone/>
            </a:pPr>
            <a:r>
              <a:rPr lang="en-US" sz="4500" b="1" kern="0" spc="-9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step, and the gate that closes it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838200" y="1504950"/>
            <a:ext cx="166116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38200" y="1790700"/>
            <a:ext cx="7848600" cy="95250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8200" y="2000250"/>
            <a:ext cx="808405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DEFINE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838200" y="2562225"/>
            <a:ext cx="7848600" cy="595313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47750" y="2714625"/>
            <a:ext cx="7664958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PRE-01 · State the Problem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752975" y="3157538"/>
            <a:ext cx="19050" cy="1905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676775" y="3348038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700189" y="3462338"/>
            <a:ext cx="4124548" cy="4905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076470" y="3576638"/>
            <a:ext cx="337198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75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Functional Consultant signs off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4752975" y="3952875"/>
            <a:ext cx="19050" cy="1905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76775" y="4143375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8200" y="4257675"/>
            <a:ext cx="7848600" cy="595313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47750" y="4410075"/>
            <a:ext cx="7664958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PRE-02 · Structured Gap Analysis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4752975" y="4852988"/>
            <a:ext cx="19050" cy="1905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676775" y="5043488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817191" y="5157788"/>
            <a:ext cx="5890617" cy="4905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166982" y="5272088"/>
            <a:ext cx="519103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75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Technical Lead reviews; gaps closed or deferred</a:t>
            </a:r>
            <a:endParaRPr lang="en-US" sz="1875" dirty="0"/>
          </a:p>
        </p:txBody>
      </p:sp>
      <p:sp>
        <p:nvSpPr>
          <p:cNvPr id="21" name="Shape 19"/>
          <p:cNvSpPr/>
          <p:nvPr/>
        </p:nvSpPr>
        <p:spPr>
          <a:xfrm>
            <a:off x="4752975" y="5648325"/>
            <a:ext cx="19050" cy="1905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676775" y="5838825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38200" y="5953125"/>
            <a:ext cx="7848600" cy="595313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047750" y="6105525"/>
            <a:ext cx="7664958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 · Populate the Intake Sheet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4752975" y="6548438"/>
            <a:ext cx="19050" cy="1905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676775" y="6738938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232571" y="6853238"/>
            <a:ext cx="5059859" cy="4905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594823" y="6967538"/>
            <a:ext cx="433535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75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placeholders; human confirms sheet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3621137" y="9567863"/>
            <a:ext cx="235892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↓ to DESIGN, Step 02</a:t>
            </a:r>
            <a:endParaRPr lang="en-US" sz="1875" dirty="0"/>
          </a:p>
        </p:txBody>
      </p:sp>
      <p:sp>
        <p:nvSpPr>
          <p:cNvPr id="30" name="Shape 28"/>
          <p:cNvSpPr/>
          <p:nvPr/>
        </p:nvSpPr>
        <p:spPr>
          <a:xfrm>
            <a:off x="9144000" y="1790700"/>
            <a:ext cx="19050" cy="8039100"/>
          </a:xfrm>
          <a:prstGeom prst="rect">
            <a:avLst/>
          </a:prstGeom>
          <a:solidFill>
            <a:srgbClr val="C9C6C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620250" y="1790700"/>
            <a:ext cx="7829550" cy="95250"/>
          </a:xfrm>
          <a:prstGeom prst="rect">
            <a:avLst/>
          </a:prstGeom>
          <a:solidFill>
            <a:srgbClr val="0A7C8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620250" y="2000250"/>
            <a:ext cx="8064437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DESIGN</a:t>
            </a:r>
            <a:endParaRPr lang="en-US" sz="2700" dirty="0"/>
          </a:p>
        </p:txBody>
      </p:sp>
      <p:sp>
        <p:nvSpPr>
          <p:cNvPr id="33" name="Shape 31"/>
          <p:cNvSpPr/>
          <p:nvPr/>
        </p:nvSpPr>
        <p:spPr>
          <a:xfrm>
            <a:off x="9620250" y="2562225"/>
            <a:ext cx="7829550" cy="595313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829800" y="2714625"/>
            <a:ext cx="764533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 · Craft the FRD</a:t>
            </a:r>
            <a:endParaRPr lang="en-US" sz="2100" dirty="0"/>
          </a:p>
        </p:txBody>
      </p:sp>
      <p:sp>
        <p:nvSpPr>
          <p:cNvPr id="35" name="Shape 33"/>
          <p:cNvSpPr/>
          <p:nvPr/>
        </p:nvSpPr>
        <p:spPr>
          <a:xfrm>
            <a:off x="13525500" y="3157538"/>
            <a:ext cx="19050" cy="1905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13449300" y="3348038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11975827" y="3462338"/>
            <a:ext cx="3118321" cy="4905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2367202" y="3576638"/>
            <a:ext cx="233557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75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Dev Manager sign-off</a:t>
            </a:r>
            <a:endParaRPr lang="en-US" sz="1875" dirty="0"/>
          </a:p>
        </p:txBody>
      </p:sp>
      <p:sp>
        <p:nvSpPr>
          <p:cNvPr id="39" name="Shape 37"/>
          <p:cNvSpPr/>
          <p:nvPr/>
        </p:nvSpPr>
        <p:spPr>
          <a:xfrm>
            <a:off x="13525500" y="3952875"/>
            <a:ext cx="19050" cy="1905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13449300" y="4143375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9620250" y="4257675"/>
            <a:ext cx="7829550" cy="595313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9829800" y="4410075"/>
            <a:ext cx="764533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 · Craft the TDD</a:t>
            </a:r>
            <a:endParaRPr lang="en-US" sz="2100" dirty="0"/>
          </a:p>
        </p:txBody>
      </p:sp>
      <p:sp>
        <p:nvSpPr>
          <p:cNvPr id="43" name="Shape 41"/>
          <p:cNvSpPr/>
          <p:nvPr/>
        </p:nvSpPr>
        <p:spPr>
          <a:xfrm>
            <a:off x="13525500" y="4852988"/>
            <a:ext cx="19050" cy="1905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13449300" y="5043488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10702826" y="5157788"/>
            <a:ext cx="5664398" cy="4905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11056010" y="5272088"/>
            <a:ext cx="495803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75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Technical Lead sign-off; self-sufficiency check</a:t>
            </a:r>
            <a:endParaRPr lang="en-US" sz="1875" dirty="0"/>
          </a:p>
        </p:txBody>
      </p:sp>
      <p:sp>
        <p:nvSpPr>
          <p:cNvPr id="47" name="Shape 45"/>
          <p:cNvSpPr/>
          <p:nvPr/>
        </p:nvSpPr>
        <p:spPr>
          <a:xfrm>
            <a:off x="13525500" y="5648325"/>
            <a:ext cx="19050" cy="1905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3449300" y="5838825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9620250" y="5953125"/>
            <a:ext cx="7829550" cy="595313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9829800" y="6105525"/>
            <a:ext cx="7645337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04 · Sanity Check and Validation</a:t>
            </a:r>
            <a:endParaRPr lang="en-US" sz="2100" dirty="0"/>
          </a:p>
        </p:txBody>
      </p:sp>
      <p:sp>
        <p:nvSpPr>
          <p:cNvPr id="51" name="Shape 49"/>
          <p:cNvSpPr/>
          <p:nvPr/>
        </p:nvSpPr>
        <p:spPr>
          <a:xfrm>
            <a:off x="13525500" y="6548438"/>
            <a:ext cx="19050" cy="1905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13449300" y="6738938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12192670" y="6853238"/>
            <a:ext cx="2684711" cy="4905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12590549" y="6967538"/>
            <a:ext cx="188895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75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 blocking issues</a:t>
            </a:r>
            <a:endParaRPr lang="en-US" sz="1875" dirty="0"/>
          </a:p>
        </p:txBody>
      </p:sp>
      <p:sp>
        <p:nvSpPr>
          <p:cNvPr id="55" name="Text 53"/>
          <p:cNvSpPr/>
          <p:nvPr/>
        </p:nvSpPr>
        <p:spPr>
          <a:xfrm>
            <a:off x="12506251" y="9567863"/>
            <a:ext cx="213374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↓ to BUILD, Step 05</a:t>
            </a:r>
            <a:endParaRPr lang="en-US" sz="1875" dirty="0"/>
          </a:p>
        </p:txBody>
      </p:sp>
      <p:sp>
        <p:nvSpPr>
          <p:cNvPr id="56" name="Text 54"/>
          <p:cNvSpPr/>
          <p:nvPr/>
        </p:nvSpPr>
        <p:spPr>
          <a:xfrm>
            <a:off x="15229284" y="982980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7D79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8200" y="457200"/>
            <a:ext cx="1827276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SCHEMATIC 2 — STEP AND GATE FLOW, PART TWO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38200" y="781050"/>
            <a:ext cx="1827276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2308"/>
              </a:lnSpc>
              <a:buNone/>
            </a:pPr>
            <a:r>
              <a:rPr lang="en-US" sz="4500" b="1" kern="0" spc="-9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step, and the gate that closes it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838200" y="1504950"/>
            <a:ext cx="166116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38200" y="1752600"/>
            <a:ext cx="7848600" cy="95250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8200" y="1962150"/>
            <a:ext cx="8084058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BUILD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838200" y="2505075"/>
            <a:ext cx="7848600" cy="595313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47750" y="2657475"/>
            <a:ext cx="7664958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05 · Plan the Code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752975" y="3100388"/>
            <a:ext cx="19050" cy="171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676775" y="3271838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720974" y="3386138"/>
            <a:ext cx="6082978" cy="4905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67879" y="3500438"/>
            <a:ext cx="538916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75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Batch order agreed; scaffold structurally complete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4752975" y="3876675"/>
            <a:ext cx="19050" cy="171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76775" y="4048125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8200" y="4162425"/>
            <a:ext cx="7848600" cy="595313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47750" y="4314825"/>
            <a:ext cx="7664958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06 · Code Generation </a:t>
            </a:r>
            <a:r>
              <a:rPr lang="en-US" sz="210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— per batch, no compile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4752975" y="4757738"/>
            <a:ext cx="19050" cy="171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676775" y="4929188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129159" y="5043488"/>
            <a:ext cx="7266682" cy="4905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458309" y="5157788"/>
            <a:ext cx="660838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75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batch pre-flight clean; permission-set coverage verified</a:t>
            </a:r>
            <a:endParaRPr lang="en-US" sz="1875" dirty="0"/>
          </a:p>
        </p:txBody>
      </p:sp>
      <p:sp>
        <p:nvSpPr>
          <p:cNvPr id="21" name="Shape 19"/>
          <p:cNvSpPr/>
          <p:nvPr/>
        </p:nvSpPr>
        <p:spPr>
          <a:xfrm>
            <a:off x="4752975" y="5534025"/>
            <a:ext cx="19050" cy="171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676775" y="5705475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38200" y="5819775"/>
            <a:ext cx="7848600" cy="595313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047750" y="5972175"/>
            <a:ext cx="7664958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07 · Troubleshoot, Iterate </a:t>
            </a:r>
            <a:r>
              <a:rPr lang="en-US" sz="210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— the one compile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4752975" y="6415088"/>
            <a:ext cx="19050" cy="171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676775" y="6586538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65289" y="6700838"/>
            <a:ext cx="2994347" cy="4905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658524" y="6815138"/>
            <a:ext cx="220787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75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 errors / 0 warnings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3668539" y="9567863"/>
            <a:ext cx="226412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↓ to PROVE, Step 08</a:t>
            </a:r>
            <a:endParaRPr lang="en-US" sz="1875" dirty="0"/>
          </a:p>
        </p:txBody>
      </p:sp>
      <p:sp>
        <p:nvSpPr>
          <p:cNvPr id="30" name="Shape 28"/>
          <p:cNvSpPr/>
          <p:nvPr/>
        </p:nvSpPr>
        <p:spPr>
          <a:xfrm>
            <a:off x="9144000" y="1752600"/>
            <a:ext cx="19050" cy="8077200"/>
          </a:xfrm>
          <a:prstGeom prst="rect">
            <a:avLst/>
          </a:prstGeom>
          <a:solidFill>
            <a:srgbClr val="C9C6C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620250" y="1752600"/>
            <a:ext cx="7829550" cy="95250"/>
          </a:xfrm>
          <a:prstGeom prst="rect">
            <a:avLst/>
          </a:prstGeom>
          <a:solidFill>
            <a:srgbClr val="C10E7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620250" y="1962150"/>
            <a:ext cx="8064437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PROVE</a:t>
            </a:r>
            <a:endParaRPr lang="en-US" sz="2700" dirty="0"/>
          </a:p>
        </p:txBody>
      </p:sp>
      <p:sp>
        <p:nvSpPr>
          <p:cNvPr id="33" name="Shape 31"/>
          <p:cNvSpPr/>
          <p:nvPr/>
        </p:nvSpPr>
        <p:spPr>
          <a:xfrm>
            <a:off x="9620250" y="2466975"/>
            <a:ext cx="7829550" cy="504825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829800" y="2581275"/>
            <a:ext cx="764533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08 · Gap-Fit Test</a:t>
            </a:r>
            <a:endParaRPr lang="en-US" sz="2025" dirty="0"/>
          </a:p>
        </p:txBody>
      </p:sp>
      <p:sp>
        <p:nvSpPr>
          <p:cNvPr id="35" name="Shape 33"/>
          <p:cNvSpPr/>
          <p:nvPr/>
        </p:nvSpPr>
        <p:spPr>
          <a:xfrm>
            <a:off x="13525500" y="2971800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13458825" y="3048000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10946457" y="3152775"/>
            <a:ext cx="5177135" cy="4191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1287900" y="3238500"/>
            <a:ext cx="449424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gap classified, resolved or scheduled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3525500" y="3571875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13458825" y="3648075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9620250" y="3752850"/>
            <a:ext cx="7829550" cy="504825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9829800" y="3867150"/>
            <a:ext cx="764533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09 · Package and Test the App</a:t>
            </a:r>
            <a:endParaRPr lang="en-US" sz="2025" dirty="0"/>
          </a:p>
        </p:txBody>
      </p:sp>
      <p:sp>
        <p:nvSpPr>
          <p:cNvPr id="43" name="Shape 41"/>
          <p:cNvSpPr/>
          <p:nvPr/>
        </p:nvSpPr>
        <p:spPr>
          <a:xfrm>
            <a:off x="13525500" y="4257675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13458825" y="4333875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11127656" y="4438650"/>
            <a:ext cx="4814739" cy="4191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11474535" y="4524375"/>
            <a:ext cx="412098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Publishes cleanly; green/red-team pass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13525500" y="4857750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3458825" y="4933950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9620250" y="5038725"/>
            <a:ext cx="7829550" cy="504825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9829800" y="5153025"/>
            <a:ext cx="764533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10 · Code Review</a:t>
            </a:r>
            <a:endParaRPr lang="en-US" sz="2025" dirty="0"/>
          </a:p>
        </p:txBody>
      </p:sp>
      <p:sp>
        <p:nvSpPr>
          <p:cNvPr id="51" name="Shape 49"/>
          <p:cNvSpPr/>
          <p:nvPr/>
        </p:nvSpPr>
        <p:spPr>
          <a:xfrm>
            <a:off x="13525500" y="5543550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13458825" y="5619750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10714360" y="5724525"/>
            <a:ext cx="5641256" cy="4191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11048841" y="5810250"/>
            <a:ext cx="497229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Critical findings resolved; dead-code scan clean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3525500" y="6143625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13458825" y="6219825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9620250" y="6324600"/>
            <a:ext cx="7829550" cy="504825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9829800" y="6438900"/>
            <a:ext cx="764533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11 · Update Design Documents</a:t>
            </a:r>
            <a:endParaRPr lang="en-US" sz="2025" dirty="0"/>
          </a:p>
        </p:txBody>
      </p:sp>
      <p:sp>
        <p:nvSpPr>
          <p:cNvPr id="59" name="Shape 57"/>
          <p:cNvSpPr/>
          <p:nvPr/>
        </p:nvSpPr>
        <p:spPr>
          <a:xfrm>
            <a:off x="13525500" y="6829425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13458825" y="6905625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10951518" y="7010400"/>
            <a:ext cx="5166940" cy="4191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11293113" y="7096125"/>
            <a:ext cx="4483749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As-built TDD complete; FRD reflects reality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13525500" y="7429500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13458825" y="7505700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9620250" y="7610475"/>
            <a:ext cx="7829550" cy="504825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9829800" y="7724775"/>
            <a:ext cx="7645337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12 · Document the Code</a:t>
            </a:r>
            <a:endParaRPr lang="en-US" sz="2025" dirty="0"/>
          </a:p>
        </p:txBody>
      </p:sp>
      <p:sp>
        <p:nvSpPr>
          <p:cNvPr id="67" name="Shape 65"/>
          <p:cNvSpPr/>
          <p:nvPr/>
        </p:nvSpPr>
        <p:spPr>
          <a:xfrm>
            <a:off x="13525500" y="8115300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13458825" y="8191500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11777439" y="8296275"/>
            <a:ext cx="3515097" cy="4191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12143813" y="8382000"/>
            <a:ext cx="27823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4 docs exist; ready for UAT</a:t>
            </a:r>
            <a:endParaRPr lang="en-US" sz="1800" dirty="0"/>
          </a:p>
        </p:txBody>
      </p:sp>
      <p:sp>
        <p:nvSpPr>
          <p:cNvPr id="71" name="Text 69"/>
          <p:cNvSpPr/>
          <p:nvPr/>
        </p:nvSpPr>
        <p:spPr>
          <a:xfrm>
            <a:off x="15229284" y="982980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7D79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8200" y="457200"/>
            <a:ext cx="1827276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SCHEMATIC 3 — CROSS-CUTTING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38200" y="781050"/>
            <a:ext cx="1827276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2308"/>
              </a:lnSpc>
              <a:buNone/>
            </a:pPr>
            <a:r>
              <a:rPr lang="en-US" sz="4500" b="1" kern="0" spc="-9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Model &amp; Effort Assignment (§1.7)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838200" y="1504950"/>
            <a:ext cx="166116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38200" y="1862584"/>
            <a:ext cx="3001268" cy="65246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57250" y="1881634"/>
            <a:ext cx="2963168" cy="614363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371600" y="2053084"/>
            <a:ext cx="2023363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§1.7 configured?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3953768" y="2179290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63318" y="2112615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391918" y="1714500"/>
            <a:ext cx="6252716" cy="948630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20518" y="1866900"/>
            <a:ext cx="5983097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19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(default) </a:t>
            </a: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— everything runs through one model, as if §1.7 didn't exist.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0758934" y="2179290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0968484" y="2112615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1197084" y="1714500"/>
            <a:ext cx="6252716" cy="948630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1425684" y="1866900"/>
            <a:ext cx="5983097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19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Yes </a:t>
            </a: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— a fixed three-role division, regardless of which physical models are assigned.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5369123" y="2853630"/>
            <a:ext cx="19050" cy="171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302448" y="3025080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9134401" y="2853630"/>
            <a:ext cx="19050" cy="171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067726" y="3025080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2899752" y="2853630"/>
            <a:ext cx="19050" cy="171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2833077" y="3025080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38200" y="9043988"/>
            <a:ext cx="53847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38200" y="3320355"/>
            <a:ext cx="5384750" cy="133350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838200" y="3320355"/>
            <a:ext cx="19050" cy="574268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203900" y="3320355"/>
            <a:ext cx="19050" cy="574268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085850" y="3644205"/>
            <a:ext cx="5378395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MAIN ROLE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085850" y="4153792"/>
            <a:ext cx="5036134" cy="43258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158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Runs in Primary Agent Session</a:t>
            </a:r>
          </a:p>
          <a:p>
            <a:pPr marL="0" indent="0" algn="l">
              <a:lnSpc>
                <a:spcPct val="123158"/>
              </a:lnSpc>
              <a:buNone/>
            </a:pPr>
            <a:endParaRPr lang="en-US" sz="1950" dirty="0">
              <a:solidFill>
                <a:srgbClr val="201E1D"/>
              </a:solidFill>
              <a:latin typeface="Archivo" pitchFamily="34" charset="0"/>
              <a:ea typeface="Archivo" pitchFamily="34" charset="-122"/>
              <a:cs typeface="Archivo" pitchFamily="34" charset="-120"/>
            </a:endParaRPr>
          </a:p>
          <a:p>
            <a:pPr marL="0" indent="0" algn="l">
              <a:lnSpc>
                <a:spcPct val="123158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All BUILD code generation. All actual code edits, including applying what Light and Reasoning report. End-to-end ownership of the ChangeLog, Object Register, ProjectMemory and </a:t>
            </a:r>
            <a:r>
              <a:rPr lang="en-US" sz="1950" dirty="0" err="1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TestingFeedback.md</a:t>
            </a: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.</a:t>
            </a:r>
          </a:p>
          <a:p>
            <a:pPr marL="0" indent="0" algn="l">
              <a:lnSpc>
                <a:spcPct val="123158"/>
              </a:lnSpc>
              <a:buNone/>
            </a:pPr>
            <a:endParaRPr lang="en-US" sz="1950" dirty="0">
              <a:solidFill>
                <a:srgbClr val="201E1D"/>
              </a:solidFill>
              <a:latin typeface="Archivo" pitchFamily="34" charset="0"/>
              <a:cs typeface="Archivo" pitchFamily="34" charset="-120"/>
            </a:endParaRPr>
          </a:p>
          <a:p>
            <a:pPr marL="0" indent="0" algn="l">
              <a:lnSpc>
                <a:spcPct val="123158"/>
              </a:lnSpc>
              <a:buNone/>
            </a:pPr>
            <a:r>
              <a:rPr lang="en-US" sz="1950" b="1" dirty="0">
                <a:solidFill>
                  <a:srgbClr val="201E1D"/>
                </a:solidFill>
                <a:latin typeface="Archivo" pitchFamily="34" charset="0"/>
                <a:cs typeface="Archivo" pitchFamily="34" charset="-120"/>
              </a:rPr>
              <a:t>IDEAL MODEL: </a:t>
            </a:r>
            <a:r>
              <a:rPr lang="en-US" sz="1950" dirty="0">
                <a:solidFill>
                  <a:srgbClr val="201E1D"/>
                </a:solidFill>
                <a:latin typeface="Archivo" pitchFamily="34" charset="0"/>
                <a:cs typeface="Archivo" pitchFamily="34" charset="-120"/>
              </a:rPr>
              <a:t>A reliable, cost-effective daily driver like Claude Sonnet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6451550" y="9043988"/>
            <a:ext cx="5384825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451550" y="3320355"/>
            <a:ext cx="5384825" cy="133350"/>
          </a:xfrm>
          <a:prstGeom prst="rect">
            <a:avLst/>
          </a:prstGeom>
          <a:solidFill>
            <a:srgbClr val="0A7C8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451550" y="3320355"/>
            <a:ext cx="19050" cy="574268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1817325" y="3320355"/>
            <a:ext cx="19050" cy="574268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699200" y="3644205"/>
            <a:ext cx="5378477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LIGHT ROLE</a:t>
            </a:r>
            <a:endParaRPr lang="en-US" sz="2850" dirty="0"/>
          </a:p>
        </p:txBody>
      </p:sp>
      <p:sp>
        <p:nvSpPr>
          <p:cNvPr id="33" name="Text 31"/>
          <p:cNvSpPr/>
          <p:nvPr/>
        </p:nvSpPr>
        <p:spPr>
          <a:xfrm>
            <a:off x="6699200" y="4153793"/>
            <a:ext cx="5036211" cy="3985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3158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Spawned as a Sub-Agent</a:t>
            </a:r>
          </a:p>
          <a:p>
            <a:pPr marL="0" indent="0" algn="l">
              <a:lnSpc>
                <a:spcPct val="123158"/>
              </a:lnSpc>
              <a:buNone/>
            </a:pPr>
            <a:endParaRPr lang="en-US" sz="1950" dirty="0">
              <a:solidFill>
                <a:srgbClr val="201E1D"/>
              </a:solidFill>
              <a:latin typeface="Archivo" pitchFamily="34" charset="0"/>
              <a:ea typeface="Archivo" pitchFamily="34" charset="-122"/>
              <a:cs typeface="Archivo" pitchFamily="34" charset="-120"/>
            </a:endParaRPr>
          </a:p>
          <a:p>
            <a:pPr marL="0" indent="0" algn="l">
              <a:lnSpc>
                <a:spcPct val="123158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Step 05 post-generation pre-flight pass only — required props, Rec.-qualification, dead code, indentation, permission-set coverage, symbol verification.</a:t>
            </a:r>
          </a:p>
          <a:p>
            <a:pPr marL="0" indent="0" algn="l">
              <a:lnSpc>
                <a:spcPct val="123158"/>
              </a:lnSpc>
              <a:buNone/>
            </a:pPr>
            <a:endParaRPr lang="en-US" sz="1950" dirty="0">
              <a:solidFill>
                <a:srgbClr val="201E1D"/>
              </a:solidFill>
              <a:latin typeface="Archivo" pitchFamily="34" charset="0"/>
              <a:cs typeface="Archivo" pitchFamily="34" charset="-120"/>
            </a:endParaRPr>
          </a:p>
          <a:p>
            <a:pPr marL="0" indent="0" algn="l">
              <a:lnSpc>
                <a:spcPct val="123158"/>
              </a:lnSpc>
              <a:buNone/>
            </a:pPr>
            <a:r>
              <a:rPr lang="en-US" sz="1950" b="1" dirty="0">
                <a:solidFill>
                  <a:srgbClr val="201E1D"/>
                </a:solidFill>
                <a:latin typeface="Archivo" pitchFamily="34" charset="0"/>
                <a:cs typeface="Archivo" pitchFamily="34" charset="-120"/>
              </a:rPr>
              <a:t>IDEAL MODEL:</a:t>
            </a:r>
            <a:r>
              <a:rPr lang="en-US" sz="1950" dirty="0">
                <a:solidFill>
                  <a:srgbClr val="201E1D"/>
                </a:solidFill>
                <a:latin typeface="Archivo" pitchFamily="34" charset="0"/>
                <a:cs typeface="Archivo" pitchFamily="34" charset="-120"/>
              </a:rPr>
              <a:t> A low-cost, fast and lightweight like Claude Haiku</a:t>
            </a:r>
          </a:p>
        </p:txBody>
      </p:sp>
      <p:sp>
        <p:nvSpPr>
          <p:cNvPr id="34" name="Text 32"/>
          <p:cNvSpPr/>
          <p:nvPr/>
        </p:nvSpPr>
        <p:spPr>
          <a:xfrm>
            <a:off x="6699200" y="8591550"/>
            <a:ext cx="537847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4441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Reports findings. Never edits code.</a:t>
            </a:r>
            <a:endParaRPr lang="en-US" sz="1875" dirty="0"/>
          </a:p>
        </p:txBody>
      </p:sp>
      <p:sp>
        <p:nvSpPr>
          <p:cNvPr id="35" name="Shape 33"/>
          <p:cNvSpPr/>
          <p:nvPr/>
        </p:nvSpPr>
        <p:spPr>
          <a:xfrm>
            <a:off x="12064975" y="9043988"/>
            <a:ext cx="5384825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12064975" y="3320355"/>
            <a:ext cx="5384825" cy="133350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12064975" y="3320355"/>
            <a:ext cx="19050" cy="574268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17430750" y="3320355"/>
            <a:ext cx="19050" cy="5742682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12312625" y="3644205"/>
            <a:ext cx="5378477" cy="433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REASONING ROLE</a:t>
            </a:r>
            <a:endParaRPr lang="en-US" sz="2850" dirty="0"/>
          </a:p>
        </p:txBody>
      </p:sp>
      <p:sp>
        <p:nvSpPr>
          <p:cNvPr id="40" name="Text 38"/>
          <p:cNvSpPr/>
          <p:nvPr/>
        </p:nvSpPr>
        <p:spPr>
          <a:xfrm>
            <a:off x="12312625" y="4153793"/>
            <a:ext cx="5036211" cy="41472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3158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Spawned as a Sub-Agent</a:t>
            </a:r>
          </a:p>
          <a:p>
            <a:pPr marL="0" indent="0" algn="l">
              <a:lnSpc>
                <a:spcPct val="123158"/>
              </a:lnSpc>
              <a:buNone/>
            </a:pPr>
            <a:endParaRPr lang="en-US" sz="1950" dirty="0">
              <a:solidFill>
                <a:srgbClr val="201E1D"/>
              </a:solidFill>
              <a:latin typeface="Archivo" pitchFamily="34" charset="0"/>
              <a:ea typeface="Archivo" pitchFamily="34" charset="-122"/>
              <a:cs typeface="Archivo" pitchFamily="34" charset="-120"/>
            </a:endParaRPr>
          </a:p>
          <a:p>
            <a:pPr marL="0" indent="0" algn="l">
              <a:lnSpc>
                <a:spcPct val="123158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Sanity Check (04), Gap-Fit Test (08), Code Review (10), FRD (02) and TDD (03) authorship, root-cause troubleshooting (07), diagnosing testing-feedback reports.</a:t>
            </a:r>
          </a:p>
          <a:p>
            <a:pPr marL="0" indent="0" algn="l">
              <a:lnSpc>
                <a:spcPct val="123158"/>
              </a:lnSpc>
              <a:buNone/>
            </a:pPr>
            <a:endParaRPr lang="en-US" sz="1950" dirty="0">
              <a:solidFill>
                <a:srgbClr val="201E1D"/>
              </a:solidFill>
              <a:latin typeface="Archivo" pitchFamily="34" charset="0"/>
              <a:cs typeface="Archivo" pitchFamily="34" charset="-120"/>
            </a:endParaRPr>
          </a:p>
          <a:p>
            <a:pPr marL="0" indent="0" algn="l">
              <a:lnSpc>
                <a:spcPct val="123158"/>
              </a:lnSpc>
              <a:buNone/>
            </a:pPr>
            <a:r>
              <a:rPr lang="en-US" sz="1950" b="1" dirty="0">
                <a:solidFill>
                  <a:srgbClr val="201E1D"/>
                </a:solidFill>
                <a:latin typeface="Archivo" pitchFamily="34" charset="0"/>
                <a:cs typeface="Archivo" pitchFamily="34" charset="-120"/>
              </a:rPr>
              <a:t>IDEAL MODEL: </a:t>
            </a:r>
            <a:r>
              <a:rPr lang="en-US" sz="1950" dirty="0">
                <a:solidFill>
                  <a:srgbClr val="201E1D"/>
                </a:solidFill>
                <a:latin typeface="Archivo" pitchFamily="34" charset="0"/>
                <a:cs typeface="Archivo" pitchFamily="34" charset="-120"/>
              </a:rPr>
              <a:t>A strong, reasoning model like Claude Opus </a:t>
            </a:r>
          </a:p>
          <a:p>
            <a:pPr marL="0" indent="0" algn="l">
              <a:lnSpc>
                <a:spcPct val="123158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cs typeface="Archivo" pitchFamily="34" charset="-120"/>
              </a:rPr>
              <a:t>Will cost more on each run, but saves time &amp; overall cost by doing critical tasks right the first time and inspecting other agents</a:t>
            </a:r>
            <a:r>
              <a:rPr lang="en-US" sz="1950">
                <a:solidFill>
                  <a:srgbClr val="201E1D"/>
                </a:solidFill>
                <a:latin typeface="Archivo" pitchFamily="34" charset="0"/>
                <a:cs typeface="Archivo" pitchFamily="34" charset="-120"/>
              </a:rPr>
              <a:t>’ work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12312625" y="8329613"/>
            <a:ext cx="5036211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4441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Reports drafts and diagnoses. Never edits code or continuity docs.</a:t>
            </a:r>
            <a:endParaRPr lang="en-US" sz="1875" dirty="0"/>
          </a:p>
        </p:txBody>
      </p:sp>
      <p:sp>
        <p:nvSpPr>
          <p:cNvPr id="42" name="Text 40"/>
          <p:cNvSpPr/>
          <p:nvPr/>
        </p:nvSpPr>
        <p:spPr>
          <a:xfrm>
            <a:off x="838200" y="9410700"/>
            <a:ext cx="486720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4441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Light and Reasoning relay findings to Main</a:t>
            </a:r>
            <a:endParaRPr lang="en-US" sz="1875" dirty="0"/>
          </a:p>
        </p:txBody>
      </p:sp>
      <p:sp>
        <p:nvSpPr>
          <p:cNvPr id="43" name="Shape 41"/>
          <p:cNvSpPr/>
          <p:nvPr/>
        </p:nvSpPr>
        <p:spPr>
          <a:xfrm>
            <a:off x="5415335" y="9465469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529635" y="9532144"/>
            <a:ext cx="669042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12220054" y="9465469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12486754" y="9253538"/>
            <a:ext cx="4963046" cy="576263"/>
          </a:xfrm>
          <a:prstGeom prst="roundRect">
            <a:avLst>
              <a:gd name="adj" fmla="val 50000"/>
            </a:avLst>
          </a:prstGeom>
          <a:solidFill>
            <a:srgbClr val="EAE9E9"/>
          </a:solidFill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12791554" y="9405937"/>
            <a:ext cx="4502337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codebase &amp; continuity documents</a:t>
            </a:r>
            <a:endParaRPr lang="en-US" sz="1950" dirty="0"/>
          </a:p>
        </p:txBody>
      </p:sp>
      <p:sp>
        <p:nvSpPr>
          <p:cNvPr id="48" name="Text 46"/>
          <p:cNvSpPr/>
          <p:nvPr/>
        </p:nvSpPr>
        <p:spPr>
          <a:xfrm>
            <a:off x="15229284" y="982980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7D79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6CB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kern="0" spc="378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PHASE 01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1047750" y="3676650"/>
            <a:ext cx="17811750" cy="1666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2609"/>
              </a:lnSpc>
              <a:buNone/>
            </a:pPr>
            <a:r>
              <a:rPr lang="en-US" sz="14250" b="1" kern="0" spc="-570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DEFINE</a:t>
            </a:r>
            <a:endParaRPr lang="en-US" sz="14250" dirty="0"/>
          </a:p>
        </p:txBody>
      </p:sp>
      <p:sp>
        <p:nvSpPr>
          <p:cNvPr id="4" name="Shape 2"/>
          <p:cNvSpPr/>
          <p:nvPr/>
        </p:nvSpPr>
        <p:spPr>
          <a:xfrm>
            <a:off x="1047750" y="5686425"/>
            <a:ext cx="16192500" cy="19050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7750" y="6086475"/>
            <a:ext cx="1362075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5789"/>
              </a:lnSpc>
              <a:buNone/>
            </a:pPr>
            <a:r>
              <a:rPr lang="en-US" sz="3300" b="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Scope the problem and fill in the parameters. Ask, don't infer.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047750" y="9082088"/>
            <a:ext cx="1781175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PRE-01 State the Problem · PRE-02 Structured Gap Analysis · 01 Populate the Intake Sheet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5229284" y="982980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F3F2F2">
                    <a:alpha val="72000"/>
                  </a:srgbClr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8200" y="285750"/>
            <a:ext cx="1827276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0F6CB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PHASE 01 — DEFINE · SCHEMATIC 4.1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38200" y="609600"/>
            <a:ext cx="1827276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50" b="1" kern="0" spc="-69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From stakeholder conversation to confirmed parameters</a:t>
            </a:r>
            <a:endParaRPr lang="en-US" sz="3450" dirty="0"/>
          </a:p>
        </p:txBody>
      </p:sp>
      <p:sp>
        <p:nvSpPr>
          <p:cNvPr id="4" name="Shape 2"/>
          <p:cNvSpPr/>
          <p:nvPr/>
        </p:nvSpPr>
        <p:spPr>
          <a:xfrm>
            <a:off x="838200" y="1143000"/>
            <a:ext cx="166116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38200" y="1295400"/>
            <a:ext cx="7153275" cy="528638"/>
          </a:xfrm>
          <a:prstGeom prst="roundRect">
            <a:avLst>
              <a:gd name="adj" fmla="val 50000"/>
            </a:avLst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104900" y="1428750"/>
            <a:ext cx="683447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Stakeholder conversation — business need in plain language</a:t>
            </a:r>
            <a:endParaRPr lang="en-US" sz="1875" dirty="0"/>
          </a:p>
        </p:txBody>
      </p:sp>
      <p:sp>
        <p:nvSpPr>
          <p:cNvPr id="7" name="Shape 5"/>
          <p:cNvSpPr/>
          <p:nvPr/>
        </p:nvSpPr>
        <p:spPr>
          <a:xfrm>
            <a:off x="7991475" y="1550194"/>
            <a:ext cx="2476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239125" y="1483519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38200" y="1919288"/>
            <a:ext cx="1827276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0F6CB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PRE-01 · STATE THE PROBLEM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734411" y="2286000"/>
            <a:ext cx="4271925" cy="117723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34411" y="3443887"/>
            <a:ext cx="4271925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34411" y="2286000"/>
            <a:ext cx="4271925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4411" y="2286000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987286" y="2286000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95181" y="2409825"/>
            <a:ext cx="396786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INPUTS</a:t>
            </a:r>
            <a:endParaRPr lang="en-US" sz="1856" dirty="0"/>
          </a:p>
        </p:txBody>
      </p:sp>
      <p:sp>
        <p:nvSpPr>
          <p:cNvPr id="16" name="Text 14"/>
          <p:cNvSpPr/>
          <p:nvPr/>
        </p:nvSpPr>
        <p:spPr>
          <a:xfrm>
            <a:off x="1095181" y="2695575"/>
            <a:ext cx="3967862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Stakeholder notes</a:t>
            </a:r>
            <a:endParaRPr lang="en-US" sz="2011" dirty="0"/>
          </a:p>
        </p:txBody>
      </p:sp>
      <p:sp>
        <p:nvSpPr>
          <p:cNvPr id="17" name="Shape 15"/>
          <p:cNvSpPr/>
          <p:nvPr/>
        </p:nvSpPr>
        <p:spPr>
          <a:xfrm>
            <a:off x="5035897" y="2865090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245447" y="2798415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93097" y="2286000"/>
            <a:ext cx="7301805" cy="1177230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721697" y="2409825"/>
            <a:ext cx="752906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ACTIONS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721697" y="2695575"/>
            <a:ext cx="7049944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Write the problem statement, capture vocabulary, draft the initial entity list, flag ambiguities.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2928253" y="2865090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3137803" y="2798415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3281664" y="2286000"/>
            <a:ext cx="4271925" cy="117723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3281664" y="3443887"/>
            <a:ext cx="4271925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3281664" y="2286000"/>
            <a:ext cx="4271925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3281664" y="2286000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7534539" y="2286000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3642434" y="2409825"/>
            <a:ext cx="396786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OUTPUT</a:t>
            </a:r>
            <a:endParaRPr lang="en-US" sz="1856" dirty="0"/>
          </a:p>
        </p:txBody>
      </p:sp>
      <p:sp>
        <p:nvSpPr>
          <p:cNvPr id="30" name="Text 28"/>
          <p:cNvSpPr/>
          <p:nvPr/>
        </p:nvSpPr>
        <p:spPr>
          <a:xfrm>
            <a:off x="13642434" y="2695575"/>
            <a:ext cx="3967862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ProblemStatement.md</a:t>
            </a:r>
            <a:endParaRPr lang="en-US" sz="2011" dirty="0"/>
          </a:p>
        </p:txBody>
      </p:sp>
      <p:sp>
        <p:nvSpPr>
          <p:cNvPr id="31" name="Shape 29"/>
          <p:cNvSpPr/>
          <p:nvPr/>
        </p:nvSpPr>
        <p:spPr>
          <a:xfrm>
            <a:off x="9134475" y="3558480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067800" y="3634680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221983" y="3834705"/>
            <a:ext cx="5843960" cy="47148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698233" y="3939480"/>
            <a:ext cx="5066778" cy="3000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EXIT GATE </a:t>
            </a:r>
            <a:r>
              <a:rPr lang="en-US" sz="1875" dirty="0">
                <a:solidFill>
                  <a:srgbClr val="F3F2F2"/>
                </a:solidFill>
                <a:highlight>
                  <a:srgbClr val="201E1D"/>
                </a:highlight>
                <a:latin typeface="Archivo" pitchFamily="34" charset="0"/>
                <a:ea typeface="Archivo" pitchFamily="34" charset="-122"/>
                <a:cs typeface="Archivo" pitchFamily="34" charset="-120"/>
              </a:rPr>
              <a:t>— Functional Consultant signs off</a:t>
            </a:r>
            <a:endParaRPr lang="en-US" sz="1875" dirty="0"/>
          </a:p>
        </p:txBody>
      </p:sp>
      <p:sp>
        <p:nvSpPr>
          <p:cNvPr id="35" name="Shape 33"/>
          <p:cNvSpPr/>
          <p:nvPr/>
        </p:nvSpPr>
        <p:spPr>
          <a:xfrm>
            <a:off x="9134475" y="4401443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9067800" y="4477643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838200" y="4677668"/>
            <a:ext cx="1827276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0F6CB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PRE-02 · STRUCTURED GAP ANALYSIS</a:t>
            </a:r>
            <a:endParaRPr lang="en-US" sz="1950" dirty="0"/>
          </a:p>
        </p:txBody>
      </p:sp>
      <p:sp>
        <p:nvSpPr>
          <p:cNvPr id="38" name="Shape 36"/>
          <p:cNvSpPr/>
          <p:nvPr/>
        </p:nvSpPr>
        <p:spPr>
          <a:xfrm>
            <a:off x="734411" y="5044380"/>
            <a:ext cx="4271925" cy="117723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734411" y="6202267"/>
            <a:ext cx="4271925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734411" y="5044380"/>
            <a:ext cx="4271925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734411" y="5044380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987286" y="5044380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1066800" y="5168205"/>
            <a:ext cx="396786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INPUTS</a:t>
            </a:r>
            <a:endParaRPr lang="en-US" sz="1856" dirty="0"/>
          </a:p>
        </p:txBody>
      </p:sp>
      <p:sp>
        <p:nvSpPr>
          <p:cNvPr id="44" name="Text 42"/>
          <p:cNvSpPr/>
          <p:nvPr/>
        </p:nvSpPr>
        <p:spPr>
          <a:xfrm>
            <a:off x="1066800" y="5453955"/>
            <a:ext cx="3715362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ProblemStatement.md, initial entity list</a:t>
            </a:r>
            <a:endParaRPr lang="en-US" sz="2011" dirty="0"/>
          </a:p>
        </p:txBody>
      </p:sp>
      <p:sp>
        <p:nvSpPr>
          <p:cNvPr id="45" name="Shape 43"/>
          <p:cNvSpPr/>
          <p:nvPr/>
        </p:nvSpPr>
        <p:spPr>
          <a:xfrm>
            <a:off x="5035897" y="5623471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5245447" y="5556796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5493097" y="5044380"/>
            <a:ext cx="7301805" cy="1177230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5721697" y="5168205"/>
            <a:ext cx="752906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ACTIONS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5721697" y="5453955"/>
            <a:ext cx="7049944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Run the gap checklist — analytical, posted, lookup, secondary docs, legacy vs. modern, tax, global/local.</a:t>
            </a:r>
            <a:endParaRPr lang="en-US" sz="1950" dirty="0"/>
          </a:p>
        </p:txBody>
      </p:sp>
      <p:sp>
        <p:nvSpPr>
          <p:cNvPr id="50" name="Shape 48"/>
          <p:cNvSpPr/>
          <p:nvPr/>
        </p:nvSpPr>
        <p:spPr>
          <a:xfrm>
            <a:off x="12928253" y="5623471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13137803" y="5556796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13281664" y="5044380"/>
            <a:ext cx="4271925" cy="117723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13281664" y="6202267"/>
            <a:ext cx="4271925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13281664" y="5044380"/>
            <a:ext cx="4271925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13281664" y="5044380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17534539" y="5044380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13642434" y="5168205"/>
            <a:ext cx="396786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OUTPUT</a:t>
            </a:r>
            <a:endParaRPr lang="en-US" sz="1856" dirty="0"/>
          </a:p>
        </p:txBody>
      </p:sp>
      <p:sp>
        <p:nvSpPr>
          <p:cNvPr id="58" name="Text 56"/>
          <p:cNvSpPr/>
          <p:nvPr/>
        </p:nvSpPr>
        <p:spPr>
          <a:xfrm>
            <a:off x="13642434" y="5453955"/>
            <a:ext cx="3967862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Expanded entity list + gap log</a:t>
            </a:r>
            <a:endParaRPr lang="en-US" sz="2011" dirty="0"/>
          </a:p>
        </p:txBody>
      </p:sp>
      <p:sp>
        <p:nvSpPr>
          <p:cNvPr id="59" name="Shape 57"/>
          <p:cNvSpPr/>
          <p:nvPr/>
        </p:nvSpPr>
        <p:spPr>
          <a:xfrm>
            <a:off x="9134475" y="6316861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9067800" y="6393061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5338986" y="6593086"/>
            <a:ext cx="7610029" cy="47148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5815236" y="6697861"/>
            <a:ext cx="6885829" cy="3000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EXIT GATE </a:t>
            </a:r>
            <a:r>
              <a:rPr lang="en-US" sz="1875" dirty="0">
                <a:solidFill>
                  <a:srgbClr val="F3F2F2"/>
                </a:solidFill>
                <a:highlight>
                  <a:srgbClr val="201E1D"/>
                </a:highlight>
                <a:latin typeface="Archivo" pitchFamily="34" charset="0"/>
                <a:ea typeface="Archivo" pitchFamily="34" charset="-122"/>
                <a:cs typeface="Archivo" pitchFamily="34" charset="-120"/>
              </a:rPr>
              <a:t>— Technical Lead reviews; gaps closed or deferred</a:t>
            </a:r>
            <a:endParaRPr lang="en-US" sz="1875" dirty="0"/>
          </a:p>
        </p:txBody>
      </p:sp>
      <p:sp>
        <p:nvSpPr>
          <p:cNvPr id="63" name="Shape 61"/>
          <p:cNvSpPr/>
          <p:nvPr/>
        </p:nvSpPr>
        <p:spPr>
          <a:xfrm>
            <a:off x="9134475" y="7159823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9067800" y="7236023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838200" y="7436048"/>
            <a:ext cx="1827276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0F6CB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 · POPULATE THE INTAKE SHEET</a:t>
            </a:r>
            <a:endParaRPr lang="en-US" sz="1950" dirty="0"/>
          </a:p>
        </p:txBody>
      </p:sp>
      <p:sp>
        <p:nvSpPr>
          <p:cNvPr id="66" name="Shape 64"/>
          <p:cNvSpPr/>
          <p:nvPr/>
        </p:nvSpPr>
        <p:spPr>
          <a:xfrm>
            <a:off x="706030" y="7802761"/>
            <a:ext cx="4328687" cy="1499146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706030" y="9282563"/>
            <a:ext cx="4328687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706030" y="7802761"/>
            <a:ext cx="4328687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706030" y="7802761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5015667" y="7802761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1123562" y="7926586"/>
            <a:ext cx="396786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INPUTS</a:t>
            </a:r>
            <a:endParaRPr lang="en-US" sz="1856" dirty="0"/>
          </a:p>
        </p:txBody>
      </p:sp>
      <p:sp>
        <p:nvSpPr>
          <p:cNvPr id="72" name="Text 70"/>
          <p:cNvSpPr/>
          <p:nvPr/>
        </p:nvSpPr>
        <p:spPr>
          <a:xfrm>
            <a:off x="1123562" y="8212336"/>
            <a:ext cx="3967862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Expanded entity list, symbol file</a:t>
            </a:r>
            <a:endParaRPr lang="en-US" sz="2011" dirty="0"/>
          </a:p>
        </p:txBody>
      </p:sp>
      <p:sp>
        <p:nvSpPr>
          <p:cNvPr id="73" name="Shape 71"/>
          <p:cNvSpPr/>
          <p:nvPr/>
        </p:nvSpPr>
        <p:spPr>
          <a:xfrm>
            <a:off x="5035897" y="8542809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5245447" y="8476134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5493097" y="7802761"/>
            <a:ext cx="7301805" cy="1499146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5721697" y="7926586"/>
            <a:ext cx="752906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ACTIONS</a:t>
            </a:r>
            <a:endParaRPr lang="en-US" sz="1800" dirty="0"/>
          </a:p>
        </p:txBody>
      </p:sp>
      <p:sp>
        <p:nvSpPr>
          <p:cNvPr id="77" name="Text 75"/>
          <p:cNvSpPr/>
          <p:nvPr/>
        </p:nvSpPr>
        <p:spPr>
          <a:xfrm>
            <a:off x="5721697" y="8212336"/>
            <a:ext cx="7049944" cy="100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§1.1 Identity · §1.2 ID ranges · §1.3 Naming/API · §1.4 Platform · §1.6 Onboarding &amp; Discoverability · §1.7 Model &amp; Effort Assignment — ask, don't infer.</a:t>
            </a:r>
            <a:endParaRPr lang="en-US" sz="1950" dirty="0"/>
          </a:p>
        </p:txBody>
      </p:sp>
      <p:sp>
        <p:nvSpPr>
          <p:cNvPr id="78" name="Shape 76"/>
          <p:cNvSpPr/>
          <p:nvPr/>
        </p:nvSpPr>
        <p:spPr>
          <a:xfrm>
            <a:off x="12928253" y="8542809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13137803" y="8476134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13253283" y="7802761"/>
            <a:ext cx="4328687" cy="1499146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13253283" y="9282563"/>
            <a:ext cx="4328687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13253283" y="7802761"/>
            <a:ext cx="4328687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13253283" y="7802761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17562920" y="7802761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13642434" y="7926586"/>
            <a:ext cx="396786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OUTPUT</a:t>
            </a:r>
            <a:endParaRPr lang="en-US" sz="1856" dirty="0"/>
          </a:p>
        </p:txBody>
      </p:sp>
      <p:sp>
        <p:nvSpPr>
          <p:cNvPr id="86" name="Text 84"/>
          <p:cNvSpPr/>
          <p:nvPr/>
        </p:nvSpPr>
        <p:spPr>
          <a:xfrm>
            <a:off x="13642434" y="8212336"/>
            <a:ext cx="3715362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Project Parameters, Object Register (seeded)</a:t>
            </a:r>
            <a:endParaRPr lang="en-US" sz="2011" dirty="0"/>
          </a:p>
        </p:txBody>
      </p:sp>
      <p:sp>
        <p:nvSpPr>
          <p:cNvPr id="87" name="Shape 85"/>
          <p:cNvSpPr/>
          <p:nvPr/>
        </p:nvSpPr>
        <p:spPr>
          <a:xfrm>
            <a:off x="9134475" y="9397157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9067800" y="9473357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3396779" y="9692432"/>
            <a:ext cx="8081516" cy="47148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3873029" y="9797207"/>
            <a:ext cx="7371461" cy="3000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EXIT GATE </a:t>
            </a:r>
            <a:r>
              <a:rPr lang="en-US" sz="1875" dirty="0">
                <a:solidFill>
                  <a:srgbClr val="F3F2F2"/>
                </a:solidFill>
                <a:highlight>
                  <a:srgbClr val="201E1D"/>
                </a:highlight>
                <a:latin typeface="Archivo" pitchFamily="34" charset="0"/>
                <a:ea typeface="Archivo" pitchFamily="34" charset="-122"/>
                <a:cs typeface="Archivo" pitchFamily="34" charset="-120"/>
              </a:rPr>
              <a:t>— no placeholders remain; a human confirms the sheet</a:t>
            </a:r>
            <a:endParaRPr lang="en-US" sz="1875" dirty="0"/>
          </a:p>
        </p:txBody>
      </p:sp>
      <p:sp>
        <p:nvSpPr>
          <p:cNvPr id="91" name="Shape 89"/>
          <p:cNvSpPr/>
          <p:nvPr/>
        </p:nvSpPr>
        <p:spPr>
          <a:xfrm>
            <a:off x="11687845" y="9918650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11897395" y="9851975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12221245" y="9673382"/>
            <a:ext cx="2669902" cy="509587"/>
          </a:xfrm>
          <a:prstGeom prst="roundRect">
            <a:avLst>
              <a:gd name="adj" fmla="val 50000"/>
            </a:avLst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>
            <a:off x="12487945" y="9797207"/>
            <a:ext cx="221659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to DESIGN, Step 02</a:t>
            </a:r>
            <a:endParaRPr lang="en-US" sz="1875" dirty="0"/>
          </a:p>
        </p:txBody>
      </p:sp>
      <p:sp>
        <p:nvSpPr>
          <p:cNvPr id="95" name="Text 93"/>
          <p:cNvSpPr/>
          <p:nvPr/>
        </p:nvSpPr>
        <p:spPr>
          <a:xfrm>
            <a:off x="15229284" y="982980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7D79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7C8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kern="0" spc="378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PHASE 02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1047750" y="2753246"/>
            <a:ext cx="17811750" cy="1666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2609"/>
              </a:lnSpc>
              <a:buNone/>
            </a:pPr>
            <a:r>
              <a:rPr lang="en-US" sz="14250" b="1" kern="0" spc="-570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DESIGN</a:t>
            </a:r>
            <a:endParaRPr lang="en-US" sz="14250" dirty="0"/>
          </a:p>
        </p:txBody>
      </p:sp>
      <p:sp>
        <p:nvSpPr>
          <p:cNvPr id="4" name="Shape 2"/>
          <p:cNvSpPr/>
          <p:nvPr/>
        </p:nvSpPr>
        <p:spPr>
          <a:xfrm>
            <a:off x="1047750" y="4763021"/>
            <a:ext cx="16192500" cy="19050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7750" y="5163071"/>
            <a:ext cx="12753975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5789"/>
              </a:lnSpc>
              <a:buNone/>
            </a:pPr>
            <a:r>
              <a:rPr lang="en-US" sz="3300" b="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 FRD in business language, and a TDD complete enough to build from alone.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1047750" y="7759154"/>
            <a:ext cx="16192500" cy="1037183"/>
          </a:xfrm>
          <a:prstGeom prst="rect">
            <a:avLst/>
          </a:prstGeom>
          <a:ln w="19050">
            <a:solidFill>
              <a:srgbClr val="F3F2F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295400" y="7930604"/>
            <a:ext cx="16182975" cy="7323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5690"/>
              </a:lnSpc>
              <a:buNone/>
            </a:pPr>
            <a:r>
              <a:rPr lang="en-US" sz="2025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Main role integrates every draft — saves the file, keeps ChangeLog and ProjectMemory bookkeeping — and carries it to the human for sign-off. The Reasoning role never owns sign-off.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1047750" y="9082088"/>
            <a:ext cx="1781175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 Craft the FRD · 03 Craft the TDD · 04 Sanity Check and Validation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5229284" y="982980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F3F2F2">
                    <a:alpha val="72000"/>
                  </a:srgbClr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8200" y="285750"/>
            <a:ext cx="1827276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0A7C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PHASE 02 — DESIGN · SCHEMATIC 4.2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38200" y="609600"/>
            <a:ext cx="1827276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50" b="1" kern="0" spc="-69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Write what, then how — and check they agree</a:t>
            </a:r>
            <a:endParaRPr lang="en-US" sz="3450" dirty="0"/>
          </a:p>
        </p:txBody>
      </p:sp>
      <p:sp>
        <p:nvSpPr>
          <p:cNvPr id="4" name="Shape 2"/>
          <p:cNvSpPr/>
          <p:nvPr/>
        </p:nvSpPr>
        <p:spPr>
          <a:xfrm>
            <a:off x="838200" y="1143000"/>
            <a:ext cx="166116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38200" y="1266825"/>
            <a:ext cx="3142595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0A7C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 · CRAFT THE FRD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3847505" y="1257300"/>
            <a:ext cx="2483346" cy="304800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961805" y="1285875"/>
            <a:ext cx="250308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REASONING ROLE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06030" y="1657350"/>
            <a:ext cx="4308074" cy="1499146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06030" y="3137152"/>
            <a:ext cx="4308074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06030" y="1657350"/>
            <a:ext cx="4308074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06030" y="1657350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995054" y="1657350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66800" y="1781175"/>
            <a:ext cx="394518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INPUTS</a:t>
            </a:r>
            <a:endParaRPr lang="en-US" sz="1856" dirty="0"/>
          </a:p>
        </p:txBody>
      </p:sp>
      <p:sp>
        <p:nvSpPr>
          <p:cNvPr id="14" name="Text 12"/>
          <p:cNvSpPr/>
          <p:nvPr/>
        </p:nvSpPr>
        <p:spPr>
          <a:xfrm>
            <a:off x="1066800" y="2066925"/>
            <a:ext cx="3694131" cy="100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ProblemStatement.md, expanded entity list, Project Parameters</a:t>
            </a:r>
            <a:endParaRPr lang="en-US" sz="2011" dirty="0"/>
          </a:p>
        </p:txBody>
      </p:sp>
      <p:sp>
        <p:nvSpPr>
          <p:cNvPr id="15" name="Shape 13"/>
          <p:cNvSpPr/>
          <p:nvPr/>
        </p:nvSpPr>
        <p:spPr>
          <a:xfrm>
            <a:off x="5015285" y="2397398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224835" y="2330723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472485" y="3137446"/>
            <a:ext cx="7343031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472485" y="1657350"/>
            <a:ext cx="7343031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2485" y="1657350"/>
            <a:ext cx="95250" cy="1499146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2796465" y="1657350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777285" y="1781175"/>
            <a:ext cx="749059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ACTIONS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777285" y="2066925"/>
            <a:ext cx="7013920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Write in business language — what and why, not how. Validate against DEFINE.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2948865" y="2397398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3158415" y="2330723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3273896" y="1657350"/>
            <a:ext cx="4308074" cy="1499146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3273896" y="3137152"/>
            <a:ext cx="4308074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3273896" y="1657350"/>
            <a:ext cx="4308074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3273896" y="1657350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7562920" y="1657350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3691428" y="1781175"/>
            <a:ext cx="394518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OUTPUT</a:t>
            </a:r>
            <a:endParaRPr lang="en-US" sz="1856" dirty="0"/>
          </a:p>
        </p:txBody>
      </p:sp>
      <p:sp>
        <p:nvSpPr>
          <p:cNvPr id="31" name="Text 29"/>
          <p:cNvSpPr/>
          <p:nvPr/>
        </p:nvSpPr>
        <p:spPr>
          <a:xfrm>
            <a:off x="13691428" y="2066925"/>
            <a:ext cx="3945188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FRD.md</a:t>
            </a:r>
            <a:endParaRPr lang="en-US" sz="2011" dirty="0"/>
          </a:p>
        </p:txBody>
      </p:sp>
      <p:sp>
        <p:nvSpPr>
          <p:cNvPr id="32" name="Shape 30"/>
          <p:cNvSpPr/>
          <p:nvPr/>
        </p:nvSpPr>
        <p:spPr>
          <a:xfrm>
            <a:off x="9134475" y="3251746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9067800" y="3327946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5314057" y="3527971"/>
            <a:ext cx="7659886" cy="4524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790307" y="3623221"/>
            <a:ext cx="6937183" cy="3000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EXIT GATE </a:t>
            </a:r>
            <a:r>
              <a:rPr lang="en-US" sz="1875" dirty="0">
                <a:solidFill>
                  <a:srgbClr val="F3F2F2"/>
                </a:solidFill>
                <a:highlight>
                  <a:srgbClr val="201E1D"/>
                </a:highlight>
                <a:latin typeface="Archivo" pitchFamily="34" charset="0"/>
                <a:ea typeface="Archivo" pitchFamily="34" charset="-122"/>
                <a:cs typeface="Archivo" pitchFamily="34" charset="-120"/>
              </a:rPr>
              <a:t>— Dev Manager sign-off; every entity accounted for</a:t>
            </a:r>
            <a:endParaRPr lang="en-US" sz="1875" dirty="0"/>
          </a:p>
        </p:txBody>
      </p:sp>
      <p:sp>
        <p:nvSpPr>
          <p:cNvPr id="36" name="Shape 34"/>
          <p:cNvSpPr/>
          <p:nvPr/>
        </p:nvSpPr>
        <p:spPr>
          <a:xfrm>
            <a:off x="9134475" y="4075658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9067800" y="4151858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838200" y="4361408"/>
            <a:ext cx="3148325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0A7C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 · CRAFT THE TDD</a:t>
            </a:r>
            <a:endParaRPr lang="en-US" sz="1950" dirty="0"/>
          </a:p>
        </p:txBody>
      </p:sp>
      <p:sp>
        <p:nvSpPr>
          <p:cNvPr id="39" name="Shape 37"/>
          <p:cNvSpPr/>
          <p:nvPr/>
        </p:nvSpPr>
        <p:spPr>
          <a:xfrm>
            <a:off x="3852714" y="4351883"/>
            <a:ext cx="2483346" cy="304800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967014" y="4380458"/>
            <a:ext cx="250308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REASONING ROLE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734411" y="4751933"/>
            <a:ext cx="4251312" cy="117723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734411" y="5909820"/>
            <a:ext cx="4251312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734411" y="4751933"/>
            <a:ext cx="4251312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734411" y="4751933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4966674" y="4751933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1066800" y="4875758"/>
            <a:ext cx="394518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INPUTS</a:t>
            </a:r>
            <a:endParaRPr lang="en-US" sz="1856" dirty="0"/>
          </a:p>
        </p:txBody>
      </p:sp>
      <p:sp>
        <p:nvSpPr>
          <p:cNvPr id="47" name="Text 45"/>
          <p:cNvSpPr/>
          <p:nvPr/>
        </p:nvSpPr>
        <p:spPr>
          <a:xfrm>
            <a:off x="1066800" y="5161508"/>
            <a:ext cx="3694131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FRD.md, Project Parameters, symbol file</a:t>
            </a:r>
            <a:endParaRPr lang="en-US" sz="2011" dirty="0"/>
          </a:p>
        </p:txBody>
      </p:sp>
      <p:sp>
        <p:nvSpPr>
          <p:cNvPr id="48" name="Shape 46"/>
          <p:cNvSpPr/>
          <p:nvPr/>
        </p:nvSpPr>
        <p:spPr>
          <a:xfrm>
            <a:off x="5015285" y="5331023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5224835" y="5264348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5472485" y="5910114"/>
            <a:ext cx="7343031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5472485" y="4751933"/>
            <a:ext cx="7343031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5472485" y="4751933"/>
            <a:ext cx="95250" cy="1177230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12796465" y="4751933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777285" y="4875758"/>
            <a:ext cx="749059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ACTIONS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5777285" y="5161508"/>
            <a:ext cx="7013920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System identity, module grouping, batch plan, per-object and per-field spec, permission sets — it must be self-sufficient.</a:t>
            </a:r>
            <a:endParaRPr lang="en-US" sz="1950" dirty="0"/>
          </a:p>
        </p:txBody>
      </p:sp>
      <p:sp>
        <p:nvSpPr>
          <p:cNvPr id="56" name="Shape 54"/>
          <p:cNvSpPr/>
          <p:nvPr/>
        </p:nvSpPr>
        <p:spPr>
          <a:xfrm>
            <a:off x="12948865" y="5331023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13158415" y="5264348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13302276" y="4751933"/>
            <a:ext cx="4251313" cy="117723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13302276" y="5909820"/>
            <a:ext cx="4251313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13302276" y="4751933"/>
            <a:ext cx="4251313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13302276" y="4751933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17534539" y="4751933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13634665" y="4875758"/>
            <a:ext cx="394518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OUTPUT</a:t>
            </a:r>
            <a:endParaRPr lang="en-US" sz="1856" dirty="0"/>
          </a:p>
        </p:txBody>
      </p:sp>
      <p:sp>
        <p:nvSpPr>
          <p:cNvPr id="64" name="Text 62"/>
          <p:cNvSpPr/>
          <p:nvPr/>
        </p:nvSpPr>
        <p:spPr>
          <a:xfrm>
            <a:off x="13634665" y="5161508"/>
            <a:ext cx="3694131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TDD.md, Object Register updated</a:t>
            </a:r>
            <a:endParaRPr lang="en-US" sz="2011" dirty="0"/>
          </a:p>
        </p:txBody>
      </p:sp>
      <p:sp>
        <p:nvSpPr>
          <p:cNvPr id="65" name="Shape 63"/>
          <p:cNvSpPr/>
          <p:nvPr/>
        </p:nvSpPr>
        <p:spPr>
          <a:xfrm>
            <a:off x="9134475" y="6024414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9067800" y="6100614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5452095" y="6300639"/>
            <a:ext cx="7383735" cy="4524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5928345" y="6395889"/>
            <a:ext cx="6652747" cy="3000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EXIT GATE </a:t>
            </a:r>
            <a:r>
              <a:rPr lang="en-US" sz="1875" dirty="0">
                <a:solidFill>
                  <a:srgbClr val="F3F2F2"/>
                </a:solidFill>
                <a:highlight>
                  <a:srgbClr val="201E1D"/>
                </a:highlight>
                <a:latin typeface="Archivo" pitchFamily="34" charset="0"/>
                <a:ea typeface="Archivo" pitchFamily="34" charset="-122"/>
                <a:cs typeface="Archivo" pitchFamily="34" charset="-120"/>
              </a:rPr>
              <a:t>— Technical Lead sign-off; self-sufficiency check</a:t>
            </a:r>
            <a:endParaRPr lang="en-US" sz="1875" dirty="0"/>
          </a:p>
        </p:txBody>
      </p:sp>
      <p:sp>
        <p:nvSpPr>
          <p:cNvPr id="69" name="Shape 67"/>
          <p:cNvSpPr/>
          <p:nvPr/>
        </p:nvSpPr>
        <p:spPr>
          <a:xfrm>
            <a:off x="9134475" y="6848326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9067800" y="6924526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838200" y="7134076"/>
            <a:ext cx="569624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0A7C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04 · SANITY CHECK AND VALIDATION</a:t>
            </a:r>
            <a:endParaRPr lang="en-US" sz="1950" dirty="0"/>
          </a:p>
        </p:txBody>
      </p:sp>
      <p:sp>
        <p:nvSpPr>
          <p:cNvPr id="72" name="Shape 70"/>
          <p:cNvSpPr/>
          <p:nvPr/>
        </p:nvSpPr>
        <p:spPr>
          <a:xfrm>
            <a:off x="6169000" y="7124551"/>
            <a:ext cx="2483346" cy="304800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6283300" y="7153126"/>
            <a:ext cx="250308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REASONING ROLE</a:t>
            </a:r>
            <a:endParaRPr lang="en-US" sz="1800" dirty="0"/>
          </a:p>
        </p:txBody>
      </p:sp>
      <p:sp>
        <p:nvSpPr>
          <p:cNvPr id="74" name="Shape 72"/>
          <p:cNvSpPr/>
          <p:nvPr/>
        </p:nvSpPr>
        <p:spPr>
          <a:xfrm>
            <a:off x="734411" y="7524601"/>
            <a:ext cx="4251312" cy="117723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734411" y="8682488"/>
            <a:ext cx="4251312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734411" y="7524601"/>
            <a:ext cx="4251312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734411" y="7524601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4966674" y="7524601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1095181" y="7648426"/>
            <a:ext cx="394518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INPUTS</a:t>
            </a:r>
            <a:endParaRPr lang="en-US" sz="1856" dirty="0"/>
          </a:p>
        </p:txBody>
      </p:sp>
      <p:sp>
        <p:nvSpPr>
          <p:cNvPr id="80" name="Text 78"/>
          <p:cNvSpPr/>
          <p:nvPr/>
        </p:nvSpPr>
        <p:spPr>
          <a:xfrm>
            <a:off x="1095181" y="7934176"/>
            <a:ext cx="3945188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FRD.md, TDD.md, symbol file</a:t>
            </a:r>
            <a:endParaRPr lang="en-US" sz="2011" dirty="0"/>
          </a:p>
        </p:txBody>
      </p:sp>
      <p:sp>
        <p:nvSpPr>
          <p:cNvPr id="81" name="Shape 79"/>
          <p:cNvSpPr/>
          <p:nvPr/>
        </p:nvSpPr>
        <p:spPr>
          <a:xfrm>
            <a:off x="5015285" y="8103691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5224835" y="8037016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5472485" y="8682782"/>
            <a:ext cx="7343031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5472485" y="7524601"/>
            <a:ext cx="7343031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5472485" y="7524601"/>
            <a:ext cx="95250" cy="1177230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12796465" y="7524601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5777285" y="7648426"/>
            <a:ext cx="749059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ACTIONS</a:t>
            </a:r>
            <a:endParaRPr lang="en-US" sz="1800" dirty="0"/>
          </a:p>
        </p:txBody>
      </p:sp>
      <p:sp>
        <p:nvSpPr>
          <p:cNvPr id="88" name="Text 86"/>
          <p:cNvSpPr/>
          <p:nvPr/>
        </p:nvSpPr>
        <p:spPr>
          <a:xfrm>
            <a:off x="5777285" y="7934176"/>
            <a:ext cx="7013920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Formal review — can BC actually do this? Does the TDD implement the FRD? Work the checklist.</a:t>
            </a:r>
            <a:endParaRPr lang="en-US" sz="1950" dirty="0"/>
          </a:p>
        </p:txBody>
      </p:sp>
      <p:sp>
        <p:nvSpPr>
          <p:cNvPr id="89" name="Shape 87"/>
          <p:cNvSpPr/>
          <p:nvPr/>
        </p:nvSpPr>
        <p:spPr>
          <a:xfrm>
            <a:off x="12948865" y="8103691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13158415" y="8037016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13302276" y="7524601"/>
            <a:ext cx="4251313" cy="117723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13302276" y="8682488"/>
            <a:ext cx="4251313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13302276" y="7524601"/>
            <a:ext cx="4251313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13302276" y="7524601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17534539" y="7524601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6" name="Text 94"/>
          <p:cNvSpPr/>
          <p:nvPr/>
        </p:nvSpPr>
        <p:spPr>
          <a:xfrm>
            <a:off x="13663046" y="7648426"/>
            <a:ext cx="394518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OUTPUT</a:t>
            </a:r>
            <a:endParaRPr lang="en-US" sz="1856" dirty="0"/>
          </a:p>
        </p:txBody>
      </p:sp>
      <p:sp>
        <p:nvSpPr>
          <p:cNvPr id="97" name="Text 95"/>
          <p:cNvSpPr/>
          <p:nvPr/>
        </p:nvSpPr>
        <p:spPr>
          <a:xfrm>
            <a:off x="13663046" y="7934176"/>
            <a:ext cx="3945188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SanityCheck.md</a:t>
            </a:r>
            <a:endParaRPr lang="en-US" sz="2011" dirty="0"/>
          </a:p>
        </p:txBody>
      </p:sp>
      <p:sp>
        <p:nvSpPr>
          <p:cNvPr id="98" name="Shape 96"/>
          <p:cNvSpPr/>
          <p:nvPr/>
        </p:nvSpPr>
        <p:spPr>
          <a:xfrm>
            <a:off x="9134475" y="8797082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9067800" y="8873282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>
            <a:off x="5361236" y="9092357"/>
            <a:ext cx="4404122" cy="4524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5837486" y="9187607"/>
            <a:ext cx="3583746" cy="3000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EXIT GATE </a:t>
            </a:r>
            <a:r>
              <a:rPr lang="en-US" sz="1875" dirty="0">
                <a:solidFill>
                  <a:srgbClr val="F3F2F2"/>
                </a:solidFill>
                <a:highlight>
                  <a:srgbClr val="201E1D"/>
                </a:highlight>
                <a:latin typeface="Archivo" pitchFamily="34" charset="0"/>
                <a:ea typeface="Archivo" pitchFamily="34" charset="-122"/>
                <a:cs typeface="Archivo" pitchFamily="34" charset="-120"/>
              </a:rPr>
              <a:t>— 0 blocking issues</a:t>
            </a:r>
            <a:endParaRPr lang="en-US" sz="1875" dirty="0"/>
          </a:p>
        </p:txBody>
      </p:sp>
      <p:sp>
        <p:nvSpPr>
          <p:cNvPr id="102" name="Shape 100"/>
          <p:cNvSpPr/>
          <p:nvPr/>
        </p:nvSpPr>
        <p:spPr>
          <a:xfrm>
            <a:off x="9955857" y="9309050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10165407" y="9242375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10470207" y="9073307"/>
            <a:ext cx="2456557" cy="490538"/>
          </a:xfrm>
          <a:prstGeom prst="roundRect">
            <a:avLst>
              <a:gd name="adj" fmla="val 50000"/>
            </a:avLst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 103"/>
          <p:cNvSpPr/>
          <p:nvPr/>
        </p:nvSpPr>
        <p:spPr>
          <a:xfrm>
            <a:off x="10736907" y="9187607"/>
            <a:ext cx="199935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to BUILD, Step 05</a:t>
            </a:r>
            <a:endParaRPr lang="en-US" sz="1875" dirty="0"/>
          </a:p>
        </p:txBody>
      </p:sp>
      <p:sp>
        <p:nvSpPr>
          <p:cNvPr id="106" name="Text 104"/>
          <p:cNvSpPr/>
          <p:nvPr/>
        </p:nvSpPr>
        <p:spPr>
          <a:xfrm>
            <a:off x="15229284" y="982980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7D79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B4F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kern="0" spc="378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PHASE 03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1047750" y="3414713"/>
            <a:ext cx="17811750" cy="1666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2609"/>
              </a:lnSpc>
              <a:buNone/>
            </a:pPr>
            <a:r>
              <a:rPr lang="en-US" sz="14250" b="1" kern="0" spc="-570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BUILD</a:t>
            </a:r>
            <a:endParaRPr lang="en-US" sz="14250" dirty="0"/>
          </a:p>
        </p:txBody>
      </p:sp>
      <p:sp>
        <p:nvSpPr>
          <p:cNvPr id="4" name="Shape 2"/>
          <p:cNvSpPr/>
          <p:nvPr/>
        </p:nvSpPr>
        <p:spPr>
          <a:xfrm>
            <a:off x="1047750" y="5424488"/>
            <a:ext cx="16192500" cy="19050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7750" y="5824538"/>
            <a:ext cx="13735050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5789"/>
              </a:lnSpc>
              <a:buNone/>
            </a:pPr>
            <a:r>
              <a:rPr lang="en-US" sz="3300" b="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per-batch compile. Symbol-verified lint instead, and exactly one mandatory compile once every planned batch exists.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047750" y="9082088"/>
            <a:ext cx="1781175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05 Plan the Code · 06 Code Generation · 07 Troubleshoot, Iterate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5229284" y="982980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F3F2F2">
                    <a:alpha val="72000"/>
                  </a:srgbClr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8200" y="285750"/>
            <a:ext cx="1827276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6B4FC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PHASE 03 — BUILD · SCHEMATIC 4.3, STEPS 05–06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38200" y="609600"/>
            <a:ext cx="1827276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50" b="1" kern="0" spc="-69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Plan the batches, then generate them — without compiling</a:t>
            </a:r>
            <a:endParaRPr lang="en-US" sz="3450" dirty="0"/>
          </a:p>
        </p:txBody>
      </p:sp>
      <p:sp>
        <p:nvSpPr>
          <p:cNvPr id="4" name="Shape 2"/>
          <p:cNvSpPr/>
          <p:nvPr/>
        </p:nvSpPr>
        <p:spPr>
          <a:xfrm>
            <a:off x="838200" y="1143000"/>
            <a:ext cx="166116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38200" y="1276350"/>
            <a:ext cx="1827276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6B4FC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05 · PLAN THE CODE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706030" y="1662113"/>
            <a:ext cx="4328687" cy="1499146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06030" y="3141914"/>
            <a:ext cx="4328687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06030" y="1662113"/>
            <a:ext cx="4328687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06030" y="1662113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015667" y="1662113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23562" y="1785938"/>
            <a:ext cx="396786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INPUTS</a:t>
            </a:r>
            <a:endParaRPr lang="en-US" sz="1856" dirty="0"/>
          </a:p>
        </p:txBody>
      </p:sp>
      <p:sp>
        <p:nvSpPr>
          <p:cNvPr id="12" name="Text 10"/>
          <p:cNvSpPr/>
          <p:nvPr/>
        </p:nvSpPr>
        <p:spPr>
          <a:xfrm>
            <a:off x="1123562" y="2071688"/>
            <a:ext cx="3967862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TDD.md, Object Register</a:t>
            </a:r>
            <a:endParaRPr lang="en-US" sz="2011" dirty="0"/>
          </a:p>
        </p:txBody>
      </p:sp>
      <p:sp>
        <p:nvSpPr>
          <p:cNvPr id="13" name="Shape 11"/>
          <p:cNvSpPr/>
          <p:nvPr/>
        </p:nvSpPr>
        <p:spPr>
          <a:xfrm>
            <a:off x="5035897" y="2402160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245447" y="2335485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93097" y="1662113"/>
            <a:ext cx="7301805" cy="1499146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721697" y="1785938"/>
            <a:ext cx="752906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ACTIONS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721697" y="2071688"/>
            <a:ext cx="7049944" cy="100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Confirm batch order, prepare the scaffold, bootstrap the AL MCP Server and BCQuality snapshot, write the pre-flight checks.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2928253" y="2402160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3137803" y="2335485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3253283" y="1662113"/>
            <a:ext cx="4328687" cy="1499146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3253283" y="3141914"/>
            <a:ext cx="4328687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3253283" y="1662113"/>
            <a:ext cx="4328687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3253283" y="1662113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7562920" y="1662113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3642434" y="1785938"/>
            <a:ext cx="396786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OUTPUT</a:t>
            </a:r>
            <a:endParaRPr lang="en-US" sz="1856" dirty="0"/>
          </a:p>
        </p:txBody>
      </p:sp>
      <p:sp>
        <p:nvSpPr>
          <p:cNvPr id="26" name="Text 24"/>
          <p:cNvSpPr/>
          <p:nvPr/>
        </p:nvSpPr>
        <p:spPr>
          <a:xfrm>
            <a:off x="13642434" y="2071688"/>
            <a:ext cx="3715362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Batch plan, scaffold, pre-flight checklist</a:t>
            </a:r>
            <a:endParaRPr lang="en-US" sz="2011" dirty="0"/>
          </a:p>
        </p:txBody>
      </p:sp>
      <p:sp>
        <p:nvSpPr>
          <p:cNvPr id="27" name="Shape 25"/>
          <p:cNvSpPr/>
          <p:nvPr/>
        </p:nvSpPr>
        <p:spPr>
          <a:xfrm>
            <a:off x="9134475" y="3275558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9067800" y="3351758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128022" y="3570833"/>
            <a:ext cx="8031956" cy="4524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604272" y="3666083"/>
            <a:ext cx="7320415" cy="3000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EXIT GATE </a:t>
            </a:r>
            <a:r>
              <a:rPr lang="en-US" sz="1875" dirty="0">
                <a:solidFill>
                  <a:srgbClr val="F3F2F2"/>
                </a:solidFill>
                <a:highlight>
                  <a:srgbClr val="201E1D"/>
                </a:highlight>
                <a:latin typeface="Archivo" pitchFamily="34" charset="0"/>
                <a:ea typeface="Archivo" pitchFamily="34" charset="-122"/>
                <a:cs typeface="Archivo" pitchFamily="34" charset="-120"/>
              </a:rPr>
              <a:t>— batch order agreed; scaffold complete, not compiled</a:t>
            </a:r>
            <a:endParaRPr lang="en-US" sz="1875" dirty="0"/>
          </a:p>
        </p:txBody>
      </p:sp>
      <p:sp>
        <p:nvSpPr>
          <p:cNvPr id="31" name="Shape 29"/>
          <p:cNvSpPr/>
          <p:nvPr/>
        </p:nvSpPr>
        <p:spPr>
          <a:xfrm>
            <a:off x="9134475" y="4137571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067800" y="4213771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38200" y="4432846"/>
            <a:ext cx="3708462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6B4FC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06 · CODE GENERATION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4361929" y="4442371"/>
            <a:ext cx="263959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repeats once per batch</a:t>
            </a:r>
            <a:endParaRPr lang="en-US" sz="1875" dirty="0"/>
          </a:p>
        </p:txBody>
      </p:sp>
      <p:sp>
        <p:nvSpPr>
          <p:cNvPr id="35" name="Shape 33"/>
          <p:cNvSpPr/>
          <p:nvPr/>
        </p:nvSpPr>
        <p:spPr>
          <a:xfrm>
            <a:off x="838200" y="7228284"/>
            <a:ext cx="3767138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838200" y="4818608"/>
            <a:ext cx="3767138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838200" y="4818608"/>
            <a:ext cx="95250" cy="2428726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586288" y="4818608"/>
            <a:ext cx="19050" cy="242872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1123950" y="4961483"/>
            <a:ext cx="359902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44" dirty="0">
                <a:solidFill>
                  <a:srgbClr val="0F6CB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MAIN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123950" y="5247233"/>
            <a:ext cx="3369993" cy="1325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Pause for human approval, then generate the batch's AL files from the standard template.</a:t>
            </a:r>
            <a:endParaRPr lang="en-US" sz="1950" dirty="0"/>
          </a:p>
        </p:txBody>
      </p:sp>
      <p:sp>
        <p:nvSpPr>
          <p:cNvPr id="41" name="Shape 39"/>
          <p:cNvSpPr/>
          <p:nvPr/>
        </p:nvSpPr>
        <p:spPr>
          <a:xfrm>
            <a:off x="4719638" y="6023446"/>
            <a:ext cx="1714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891088" y="5956771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119688" y="7228284"/>
            <a:ext cx="3767138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119688" y="4818608"/>
            <a:ext cx="3767138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119688" y="4818608"/>
            <a:ext cx="95250" cy="2428726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8867775" y="4818608"/>
            <a:ext cx="19050" cy="242872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5405438" y="4961483"/>
            <a:ext cx="3369993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44" dirty="0">
                <a:solidFill>
                  <a:srgbClr val="0F6CB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MAIN · PRE-GEN PRE-FLIGHT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405438" y="5494883"/>
            <a:ext cx="3369993" cy="16476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Identifier length, reserved keywords, localization, ObsoleteState — on planned names. Fix the TDD if needed.</a:t>
            </a:r>
            <a:endParaRPr lang="en-US" sz="1950" dirty="0"/>
          </a:p>
        </p:txBody>
      </p:sp>
      <p:sp>
        <p:nvSpPr>
          <p:cNvPr id="49" name="Shape 47"/>
          <p:cNvSpPr/>
          <p:nvPr/>
        </p:nvSpPr>
        <p:spPr>
          <a:xfrm>
            <a:off x="9001125" y="6023446"/>
            <a:ext cx="1714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9172575" y="5956771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9401175" y="7228284"/>
            <a:ext cx="3767138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9401175" y="4818608"/>
            <a:ext cx="3767138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9401175" y="4818608"/>
            <a:ext cx="95250" cy="2428726"/>
          </a:xfrm>
          <a:prstGeom prst="rect">
            <a:avLst/>
          </a:prstGeom>
          <a:solidFill>
            <a:srgbClr val="0A7C8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13149263" y="4818608"/>
            <a:ext cx="19050" cy="242872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9686925" y="4961483"/>
            <a:ext cx="3369993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44" dirty="0">
                <a:solidFill>
                  <a:srgbClr val="0A7C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LIGHT · POST-GEN PRE-FLIGHT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9686925" y="5494883"/>
            <a:ext cx="3369993" cy="16476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Required props, Rec.-qualification, dead code, indentation, coverage, symbol verification. Reports; Main fixes.</a:t>
            </a:r>
            <a:endParaRPr lang="en-US" sz="1950" dirty="0"/>
          </a:p>
        </p:txBody>
      </p:sp>
      <p:sp>
        <p:nvSpPr>
          <p:cNvPr id="57" name="Shape 55"/>
          <p:cNvSpPr/>
          <p:nvPr/>
        </p:nvSpPr>
        <p:spPr>
          <a:xfrm>
            <a:off x="13282613" y="6023446"/>
            <a:ext cx="1714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13454063" y="5956771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13682663" y="7228284"/>
            <a:ext cx="3767138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13682663" y="4818608"/>
            <a:ext cx="3767138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13682663" y="4818608"/>
            <a:ext cx="95250" cy="2428726"/>
          </a:xfrm>
          <a:prstGeom prst="rect">
            <a:avLst/>
          </a:prstGeom>
          <a:solidFill>
            <a:srgbClr val="0A7C8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17430750" y="4818608"/>
            <a:ext cx="19050" cy="242872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13968413" y="4961483"/>
            <a:ext cx="359902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44" dirty="0">
                <a:solidFill>
                  <a:srgbClr val="0A7C85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LIGHT · COVERAGE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13968413" y="5247233"/>
            <a:ext cx="3369993" cy="1325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Verify permission-set coverage across all batches so far — design-time, independent of compiling.</a:t>
            </a:r>
            <a:endParaRPr lang="en-US" sz="1950" dirty="0"/>
          </a:p>
        </p:txBody>
      </p:sp>
      <p:sp>
        <p:nvSpPr>
          <p:cNvPr id="65" name="Shape 63"/>
          <p:cNvSpPr/>
          <p:nvPr/>
        </p:nvSpPr>
        <p:spPr>
          <a:xfrm>
            <a:off x="952500" y="7342584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1019175" y="7447359"/>
            <a:ext cx="19050" cy="50006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1219200" y="7928372"/>
            <a:ext cx="13262818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1371600" y="7452122"/>
            <a:ext cx="13508303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4441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Yes — return to the top of the loop for the next batch</a:t>
            </a:r>
            <a:endParaRPr lang="en-US" sz="1875" dirty="0"/>
          </a:p>
        </p:txBody>
      </p:sp>
      <p:sp>
        <p:nvSpPr>
          <p:cNvPr id="69" name="Shape 67"/>
          <p:cNvSpPr/>
          <p:nvPr/>
        </p:nvSpPr>
        <p:spPr>
          <a:xfrm>
            <a:off x="14634418" y="7342584"/>
            <a:ext cx="2815382" cy="6048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14653468" y="7361634"/>
            <a:ext cx="2777282" cy="566738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15224968" y="7514034"/>
            <a:ext cx="171760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More batches?</a:t>
            </a:r>
            <a:endParaRPr lang="en-US" sz="1875" dirty="0"/>
          </a:p>
        </p:txBody>
      </p:sp>
      <p:sp>
        <p:nvSpPr>
          <p:cNvPr id="72" name="Text 70"/>
          <p:cNvSpPr/>
          <p:nvPr/>
        </p:nvSpPr>
        <p:spPr>
          <a:xfrm>
            <a:off x="7198444" y="8061722"/>
            <a:ext cx="428014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4441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— every planned batch generated</a:t>
            </a:r>
            <a:endParaRPr lang="en-US" sz="1875" dirty="0"/>
          </a:p>
        </p:txBody>
      </p:sp>
      <p:sp>
        <p:nvSpPr>
          <p:cNvPr id="73" name="Shape 71"/>
          <p:cNvSpPr/>
          <p:nvPr/>
        </p:nvSpPr>
        <p:spPr>
          <a:xfrm>
            <a:off x="9134475" y="8342709"/>
            <a:ext cx="19050" cy="952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9067800" y="8437959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4577804" y="8657034"/>
            <a:ext cx="9132317" cy="4524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5054054" y="8752284"/>
            <a:ext cx="8453787" cy="3000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EXIT GATE </a:t>
            </a:r>
            <a:r>
              <a:rPr lang="en-US" sz="1875" dirty="0">
                <a:solidFill>
                  <a:srgbClr val="F3F2F2"/>
                </a:solidFill>
                <a:highlight>
                  <a:srgbClr val="201E1D"/>
                </a:highlight>
                <a:latin typeface="Archivo" pitchFamily="34" charset="0"/>
                <a:ea typeface="Archivo" pitchFamily="34" charset="-122"/>
                <a:cs typeface="Archivo" pitchFamily="34" charset="-120"/>
              </a:rPr>
              <a:t>— every batch pre-flight clean; coverage verified; no compile here</a:t>
            </a:r>
            <a:endParaRPr lang="en-US" sz="1875" dirty="0"/>
          </a:p>
        </p:txBody>
      </p:sp>
      <p:sp>
        <p:nvSpPr>
          <p:cNvPr id="77" name="Text 75"/>
          <p:cNvSpPr/>
          <p:nvPr/>
        </p:nvSpPr>
        <p:spPr>
          <a:xfrm>
            <a:off x="15229284" y="982980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7D79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8200" y="457200"/>
            <a:ext cx="1827276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6B4FC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PHASE 03 — BUILD · SCHEMATIC 4.3, STEP 07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38200" y="781050"/>
            <a:ext cx="18272760" cy="590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2063"/>
              </a:lnSpc>
              <a:buNone/>
            </a:pPr>
            <a:r>
              <a:rPr lang="en-US" sz="4350" b="1" kern="0" spc="-87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Troubleshoot, iterate — the one mandatory compile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838200" y="1485900"/>
            <a:ext cx="166116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504950" y="3048000"/>
            <a:ext cx="6918424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504950" y="1752600"/>
            <a:ext cx="6918424" cy="133350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504950" y="1752600"/>
            <a:ext cx="19050" cy="1314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404324" y="1752600"/>
            <a:ext cx="19050" cy="1314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771650" y="2095500"/>
            <a:ext cx="6592577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82"/>
              </a:lnSpc>
              <a:buNone/>
            </a:pPr>
            <a:r>
              <a:rPr lang="en-US" sz="225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FIRST: compile the whole extension once — the one mandatory compile (Operating Rule 4).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4954637" y="3067050"/>
            <a:ext cx="19050" cy="2476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78437" y="3314700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069803" y="3429000"/>
            <a:ext cx="3788718" cy="82391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088853" y="3448050"/>
            <a:ext cx="3750618" cy="785813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755603" y="3695700"/>
            <a:ext cx="2529636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Errors or warnings?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504950" y="4329113"/>
            <a:ext cx="55594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4441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↓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4954637" y="4629150"/>
            <a:ext cx="19050" cy="2095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78437" y="4838700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538835" y="4953000"/>
            <a:ext cx="2850579" cy="1309688"/>
          </a:xfrm>
          <a:prstGeom prst="roundRect">
            <a:avLst>
              <a:gd name="adj" fmla="val 50000"/>
            </a:avLst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004001" y="5200650"/>
            <a:ext cx="1920247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92035"/>
              </a:lnSpc>
              <a:buNone/>
            </a:pPr>
            <a:r>
              <a:rPr lang="en-US" sz="39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 / 0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4004001" y="5753100"/>
            <a:ext cx="192024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87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errors / warnings</a:t>
            </a:r>
            <a:endParaRPr lang="en-US" sz="1875" dirty="0"/>
          </a:p>
        </p:txBody>
      </p:sp>
      <p:sp>
        <p:nvSpPr>
          <p:cNvPr id="21" name="Text 19"/>
          <p:cNvSpPr/>
          <p:nvPr/>
        </p:nvSpPr>
        <p:spPr>
          <a:xfrm>
            <a:off x="8683228" y="4819650"/>
            <a:ext cx="46136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4441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Yes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8651974" y="5214938"/>
            <a:ext cx="3238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975824" y="5138738"/>
            <a:ext cx="123825" cy="171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9328249" y="3177480"/>
            <a:ext cx="8121551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328249" y="1752600"/>
            <a:ext cx="8121551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9328249" y="1752600"/>
            <a:ext cx="114300" cy="1443930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7430750" y="1752600"/>
            <a:ext cx="19050" cy="14439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690199" y="1962150"/>
            <a:ext cx="824219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44" dirty="0">
                <a:solidFill>
                  <a:srgbClr val="6B4FC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REASONING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690199" y="2266950"/>
            <a:ext cx="7717688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3934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Diagnose: one-off or pattern? Where did it come from? What rule missed it?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13379500" y="3196530"/>
            <a:ext cx="19050" cy="2286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3303300" y="3425130"/>
            <a:ext cx="171450" cy="1143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328249" y="4964311"/>
            <a:ext cx="8121551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9328249" y="3539430"/>
            <a:ext cx="8121551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9328249" y="3539430"/>
            <a:ext cx="114300" cy="1443930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7430750" y="3539430"/>
            <a:ext cx="19050" cy="14439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9690199" y="3748980"/>
            <a:ext cx="824219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44" dirty="0">
                <a:solidFill>
                  <a:srgbClr val="0F6CB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MAIN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690199" y="4053780"/>
            <a:ext cx="7717688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3934"/>
              </a:lnSpc>
              <a:buNone/>
            </a:pPr>
            <a:r>
              <a:rPr lang="en-US" sz="210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Fix the root cause, regenerate files, re-compile, log the ChangeLog and update the TDD.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17202150" y="4983361"/>
            <a:ext cx="19050" cy="3393877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1066800" y="8358188"/>
            <a:ext cx="161544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1066800" y="2381250"/>
            <a:ext cx="19050" cy="599598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066800" y="2371725"/>
            <a:ext cx="3238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1390650" y="2305050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2171700" y="8248650"/>
            <a:ext cx="4038823" cy="261937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2305050" y="8248650"/>
            <a:ext cx="417600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4441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back to compile — repeat until clean</a:t>
            </a:r>
            <a:endParaRPr lang="en-US" sz="1875" dirty="0"/>
          </a:p>
        </p:txBody>
      </p:sp>
      <p:sp>
        <p:nvSpPr>
          <p:cNvPr id="45" name="Shape 43"/>
          <p:cNvSpPr/>
          <p:nvPr/>
        </p:nvSpPr>
        <p:spPr>
          <a:xfrm>
            <a:off x="4391769" y="9329738"/>
            <a:ext cx="9504387" cy="50006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4906119" y="9444038"/>
            <a:ext cx="8760819" cy="309563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EXIT GATE </a:t>
            </a:r>
            <a:r>
              <a:rPr lang="en-US" sz="1950" dirty="0">
                <a:solidFill>
                  <a:srgbClr val="F3F2F2"/>
                </a:solidFill>
                <a:highlight>
                  <a:srgbClr val="201E1D"/>
                </a:highlight>
                <a:latin typeface="Archivo" pitchFamily="34" charset="0"/>
                <a:ea typeface="Archivo" pitchFamily="34" charset="-122"/>
                <a:cs typeface="Archivo" pitchFamily="34" charset="-120"/>
              </a:rPr>
              <a:t>— full extension compiles clean; ChangeLog and TDD reconciled</a:t>
            </a:r>
            <a:endParaRPr lang="en-US" sz="1950" dirty="0"/>
          </a:p>
        </p:txBody>
      </p:sp>
      <p:sp>
        <p:nvSpPr>
          <p:cNvPr id="47" name="Text 45"/>
          <p:cNvSpPr/>
          <p:nvPr/>
        </p:nvSpPr>
        <p:spPr>
          <a:xfrm>
            <a:off x="15229284" y="982980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7D79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10E7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781175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b="1" kern="0" spc="378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PHASE 04</a:t>
            </a:r>
            <a:endParaRPr lang="en-US" sz="2100" dirty="0"/>
          </a:p>
        </p:txBody>
      </p:sp>
      <p:sp>
        <p:nvSpPr>
          <p:cNvPr id="3" name="Text 1"/>
          <p:cNvSpPr/>
          <p:nvPr/>
        </p:nvSpPr>
        <p:spPr>
          <a:xfrm>
            <a:off x="1047750" y="3676650"/>
            <a:ext cx="17811750" cy="1666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82609"/>
              </a:lnSpc>
              <a:buNone/>
            </a:pPr>
            <a:r>
              <a:rPr lang="en-US" sz="14250" b="1" kern="0" spc="-570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PROVE</a:t>
            </a:r>
            <a:endParaRPr lang="en-US" sz="14250" dirty="0"/>
          </a:p>
        </p:txBody>
      </p:sp>
      <p:sp>
        <p:nvSpPr>
          <p:cNvPr id="4" name="Shape 2"/>
          <p:cNvSpPr/>
          <p:nvPr/>
        </p:nvSpPr>
        <p:spPr>
          <a:xfrm>
            <a:off x="1047750" y="5686425"/>
            <a:ext cx="16192500" cy="19050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7750" y="6086475"/>
            <a:ext cx="13620750" cy="561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5789"/>
              </a:lnSpc>
              <a:buNone/>
            </a:pPr>
            <a:r>
              <a:rPr lang="en-US" sz="3300" b="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Test, review, document, package — until it is ready for UAT.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047750" y="9082088"/>
            <a:ext cx="1781175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00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08 Gap-Fit Test · 09 Package and Test · 10 Code Review · 11 Update Design Documents · 12 Document the Code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5229284" y="982980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F3F2F2">
                    <a:alpha val="72000"/>
                  </a:srgbClr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8200" y="285750"/>
            <a:ext cx="1827276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C10E7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PHASE 04 — PROVE · SCHEMATIC 4.4, STEPS 08–09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38200" y="609600"/>
            <a:ext cx="1827276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50" b="1" kern="0" spc="-69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Does the built thing match what was promised?</a:t>
            </a:r>
            <a:endParaRPr lang="en-US" sz="3450" dirty="0"/>
          </a:p>
        </p:txBody>
      </p:sp>
      <p:sp>
        <p:nvSpPr>
          <p:cNvPr id="4" name="Shape 2"/>
          <p:cNvSpPr/>
          <p:nvPr/>
        </p:nvSpPr>
        <p:spPr>
          <a:xfrm>
            <a:off x="838200" y="1143000"/>
            <a:ext cx="166116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38200" y="1285875"/>
            <a:ext cx="6386773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C10E7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08 · GAP-FIT TEST, FIDELITY VALIDATION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6796757" y="1276350"/>
            <a:ext cx="2483346" cy="304800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11057" y="1304925"/>
            <a:ext cx="250308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REASONING ROLE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4411" y="1695450"/>
            <a:ext cx="4251312" cy="117723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4411" y="2853337"/>
            <a:ext cx="4251312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34411" y="1695450"/>
            <a:ext cx="4251312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34411" y="1695450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966674" y="1695450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66800" y="1819275"/>
            <a:ext cx="394518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INPUTS</a:t>
            </a:r>
            <a:endParaRPr lang="en-US" sz="1856" dirty="0"/>
          </a:p>
        </p:txBody>
      </p:sp>
      <p:sp>
        <p:nvSpPr>
          <p:cNvPr id="14" name="Text 12"/>
          <p:cNvSpPr/>
          <p:nvPr/>
        </p:nvSpPr>
        <p:spPr>
          <a:xfrm>
            <a:off x="1066800" y="2105025"/>
            <a:ext cx="3694131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FRD.md, TDD.md, built AL, ChangeLog</a:t>
            </a:r>
            <a:endParaRPr lang="en-US" sz="2011" dirty="0"/>
          </a:p>
        </p:txBody>
      </p:sp>
      <p:sp>
        <p:nvSpPr>
          <p:cNvPr id="15" name="Shape 13"/>
          <p:cNvSpPr/>
          <p:nvPr/>
        </p:nvSpPr>
        <p:spPr>
          <a:xfrm>
            <a:off x="5015285" y="2274540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224835" y="2207865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472485" y="2853630"/>
            <a:ext cx="7343031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472485" y="1695450"/>
            <a:ext cx="7343031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2485" y="1695450"/>
            <a:ext cx="95250" cy="1177230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2796465" y="1695450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777285" y="1819275"/>
            <a:ext cx="749059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ACTIONS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777285" y="2105025"/>
            <a:ext cx="7013920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Three-way comparison — FRD vs. TDD vs. as-built. Classify every gap.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2948865" y="2274540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3158415" y="2207865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3302276" y="1695450"/>
            <a:ext cx="4251313" cy="117723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3302276" y="2853337"/>
            <a:ext cx="4251313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3302276" y="1695450"/>
            <a:ext cx="4251313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3302276" y="1695450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7534539" y="1695450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3634665" y="1819275"/>
            <a:ext cx="394518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OUTPUT</a:t>
            </a:r>
            <a:endParaRPr lang="en-US" sz="1856" dirty="0"/>
          </a:p>
        </p:txBody>
      </p:sp>
      <p:sp>
        <p:nvSpPr>
          <p:cNvPr id="31" name="Text 29"/>
          <p:cNvSpPr/>
          <p:nvPr/>
        </p:nvSpPr>
        <p:spPr>
          <a:xfrm>
            <a:off x="13634665" y="2105025"/>
            <a:ext cx="3694131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GapAnalysis.md, gap-fill work items</a:t>
            </a:r>
            <a:endParaRPr lang="en-US" sz="2011" dirty="0"/>
          </a:p>
        </p:txBody>
      </p:sp>
      <p:sp>
        <p:nvSpPr>
          <p:cNvPr id="32" name="Shape 30"/>
          <p:cNvSpPr/>
          <p:nvPr/>
        </p:nvSpPr>
        <p:spPr>
          <a:xfrm>
            <a:off x="9134475" y="2986980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9067800" y="3063180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5601593" y="3282255"/>
            <a:ext cx="7084740" cy="4524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077843" y="3377505"/>
            <a:ext cx="6344782" cy="3000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EXIT GATE </a:t>
            </a:r>
            <a:r>
              <a:rPr lang="en-US" sz="1875" dirty="0">
                <a:solidFill>
                  <a:srgbClr val="F3F2F2"/>
                </a:solidFill>
                <a:highlight>
                  <a:srgbClr val="201E1D"/>
                </a:highlight>
                <a:latin typeface="Archivo" pitchFamily="34" charset="0"/>
                <a:ea typeface="Archivo" pitchFamily="34" charset="-122"/>
                <a:cs typeface="Archivo" pitchFamily="34" charset="-120"/>
              </a:rPr>
              <a:t>— every gap classified, resolved or scheduled</a:t>
            </a:r>
            <a:endParaRPr lang="en-US" sz="1875" dirty="0"/>
          </a:p>
        </p:txBody>
      </p:sp>
      <p:sp>
        <p:nvSpPr>
          <p:cNvPr id="36" name="Shape 34"/>
          <p:cNvSpPr/>
          <p:nvPr/>
        </p:nvSpPr>
        <p:spPr>
          <a:xfrm>
            <a:off x="9134475" y="3848993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9067800" y="3925193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1141512" y="4144268"/>
            <a:ext cx="6362700" cy="1195388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1370112" y="4277618"/>
            <a:ext cx="6096381" cy="966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82"/>
              </a:lnSpc>
              <a:buNone/>
            </a:pPr>
            <a:r>
              <a:rPr lang="en-US" sz="187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Yes — each item takes its own pass through the Step 05/06/07 discipline: pre-flight, then compile (Operating Rule 4).</a:t>
            </a:r>
            <a:endParaRPr lang="en-US" sz="1875" dirty="0"/>
          </a:p>
        </p:txBody>
      </p:sp>
      <p:sp>
        <p:nvSpPr>
          <p:cNvPr id="40" name="Shape 38"/>
          <p:cNvSpPr/>
          <p:nvPr/>
        </p:nvSpPr>
        <p:spPr>
          <a:xfrm>
            <a:off x="7504212" y="4732437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7713762" y="4665762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7828062" y="4401443"/>
            <a:ext cx="2631802" cy="6810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7847112" y="4420493"/>
            <a:ext cx="2593702" cy="642938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8380512" y="4610993"/>
            <a:ext cx="160471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Gap-fill work?</a:t>
            </a:r>
            <a:endParaRPr lang="en-US" sz="1875" dirty="0"/>
          </a:p>
        </p:txBody>
      </p:sp>
      <p:sp>
        <p:nvSpPr>
          <p:cNvPr id="45" name="Shape 43"/>
          <p:cNvSpPr/>
          <p:nvPr/>
        </p:nvSpPr>
        <p:spPr>
          <a:xfrm>
            <a:off x="10459864" y="4732437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10669414" y="4665762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10917064" y="4610993"/>
            <a:ext cx="283211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4441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— straight to Step 09</a:t>
            </a:r>
            <a:endParaRPr lang="en-US" sz="1875" dirty="0"/>
          </a:p>
        </p:txBody>
      </p:sp>
      <p:sp>
        <p:nvSpPr>
          <p:cNvPr id="48" name="Shape 46"/>
          <p:cNvSpPr/>
          <p:nvPr/>
        </p:nvSpPr>
        <p:spPr>
          <a:xfrm>
            <a:off x="9134475" y="5453955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9067800" y="5530155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838200" y="5749230"/>
            <a:ext cx="1827276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C10E7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09 · PACKAGE AND TEST THE APP</a:t>
            </a:r>
            <a:endParaRPr lang="en-US" sz="1950" dirty="0"/>
          </a:p>
        </p:txBody>
      </p:sp>
      <p:sp>
        <p:nvSpPr>
          <p:cNvPr id="51" name="Shape 49"/>
          <p:cNvSpPr/>
          <p:nvPr/>
        </p:nvSpPr>
        <p:spPr>
          <a:xfrm>
            <a:off x="706030" y="6134993"/>
            <a:ext cx="4328687" cy="1499146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706030" y="7614795"/>
            <a:ext cx="4328687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706030" y="6134993"/>
            <a:ext cx="4328687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06030" y="6134993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5015667" y="6134993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1095181" y="6258818"/>
            <a:ext cx="396786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INPUTS</a:t>
            </a:r>
            <a:endParaRPr lang="en-US" sz="1856" dirty="0"/>
          </a:p>
        </p:txBody>
      </p:sp>
      <p:sp>
        <p:nvSpPr>
          <p:cNvPr id="57" name="Text 55"/>
          <p:cNvSpPr/>
          <p:nvPr/>
        </p:nvSpPr>
        <p:spPr>
          <a:xfrm>
            <a:off x="1095181" y="6544568"/>
            <a:ext cx="3715362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Clean-compiling extension, permission sets if any tables</a:t>
            </a:r>
            <a:endParaRPr lang="en-US" sz="2011" dirty="0"/>
          </a:p>
        </p:txBody>
      </p:sp>
      <p:sp>
        <p:nvSpPr>
          <p:cNvPr id="58" name="Shape 56"/>
          <p:cNvSpPr/>
          <p:nvPr/>
        </p:nvSpPr>
        <p:spPr>
          <a:xfrm>
            <a:off x="5035897" y="6875041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5245447" y="6808366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5493097" y="6134993"/>
            <a:ext cx="7301805" cy="1499146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5721697" y="6258818"/>
            <a:ext cx="752906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ACTIONS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5721697" y="6544568"/>
            <a:ext cx="7049944" cy="100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Build the .app (name and version from app.json), publish to sandbox, run green-team and red-team tests, verify permission sets.</a:t>
            </a:r>
            <a:endParaRPr lang="en-US" sz="1950" dirty="0"/>
          </a:p>
        </p:txBody>
      </p:sp>
      <p:sp>
        <p:nvSpPr>
          <p:cNvPr id="63" name="Shape 61"/>
          <p:cNvSpPr/>
          <p:nvPr/>
        </p:nvSpPr>
        <p:spPr>
          <a:xfrm>
            <a:off x="12928253" y="6875041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13137803" y="6808366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13253283" y="6134993"/>
            <a:ext cx="4328687" cy="1499146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13253283" y="7614795"/>
            <a:ext cx="4328687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13253283" y="6134993"/>
            <a:ext cx="4328687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13253283" y="6134993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17562920" y="6134993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13670816" y="6258818"/>
            <a:ext cx="396786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OUTPUT</a:t>
            </a:r>
            <a:endParaRPr lang="en-US" sz="1856" dirty="0"/>
          </a:p>
        </p:txBody>
      </p:sp>
      <p:sp>
        <p:nvSpPr>
          <p:cNvPr id="71" name="Text 69"/>
          <p:cNvSpPr/>
          <p:nvPr/>
        </p:nvSpPr>
        <p:spPr>
          <a:xfrm>
            <a:off x="13670816" y="6544568"/>
            <a:ext cx="3967862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.app package, test-run record</a:t>
            </a:r>
            <a:endParaRPr lang="en-US" sz="2011" dirty="0"/>
          </a:p>
        </p:txBody>
      </p:sp>
      <p:sp>
        <p:nvSpPr>
          <p:cNvPr id="72" name="Shape 70"/>
          <p:cNvSpPr/>
          <p:nvPr/>
        </p:nvSpPr>
        <p:spPr>
          <a:xfrm>
            <a:off x="9134475" y="7748439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9067800" y="7824639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4793159" y="8043714"/>
            <a:ext cx="8701608" cy="4524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5269409" y="8138964"/>
            <a:ext cx="8010157" cy="3000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EXIT GATE </a:t>
            </a:r>
            <a:r>
              <a:rPr lang="en-US" sz="1875" dirty="0">
                <a:solidFill>
                  <a:srgbClr val="F3F2F2"/>
                </a:solidFill>
                <a:highlight>
                  <a:srgbClr val="201E1D"/>
                </a:highlight>
                <a:latin typeface="Archivo" pitchFamily="34" charset="0"/>
                <a:ea typeface="Archivo" pitchFamily="34" charset="-122"/>
                <a:cs typeface="Archivo" pitchFamily="34" charset="-120"/>
              </a:rPr>
              <a:t>— publishes cleanly; green tests pass; red tests fail gracefully</a:t>
            </a:r>
            <a:endParaRPr lang="en-US" sz="1875" dirty="0"/>
          </a:p>
        </p:txBody>
      </p:sp>
      <p:sp>
        <p:nvSpPr>
          <p:cNvPr id="76" name="Text 74"/>
          <p:cNvSpPr/>
          <p:nvPr/>
        </p:nvSpPr>
        <p:spPr>
          <a:xfrm>
            <a:off x="15229284" y="982980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7D79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8200" y="285750"/>
            <a:ext cx="1827276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C10E7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PHASE 04 — PROVE · SCHEMATIC 4.4, STEPS 10–12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38200" y="609600"/>
            <a:ext cx="1827276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3450" b="1" kern="0" spc="-69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Review it, then leave the documentation behind</a:t>
            </a:r>
            <a:endParaRPr lang="en-US" sz="3450" dirty="0"/>
          </a:p>
        </p:txBody>
      </p:sp>
      <p:sp>
        <p:nvSpPr>
          <p:cNvPr id="4" name="Shape 2"/>
          <p:cNvSpPr/>
          <p:nvPr/>
        </p:nvSpPr>
        <p:spPr>
          <a:xfrm>
            <a:off x="838200" y="1143000"/>
            <a:ext cx="166116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38200" y="1266825"/>
            <a:ext cx="2875419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C10E7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10 · CODE REVIEW</a:t>
            </a:r>
            <a:endParaRPr lang="en-US" sz="1950" dirty="0"/>
          </a:p>
        </p:txBody>
      </p:sp>
      <p:sp>
        <p:nvSpPr>
          <p:cNvPr id="6" name="Shape 4"/>
          <p:cNvSpPr/>
          <p:nvPr/>
        </p:nvSpPr>
        <p:spPr>
          <a:xfrm>
            <a:off x="3604617" y="1257300"/>
            <a:ext cx="2483346" cy="304800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718917" y="1285875"/>
            <a:ext cx="2503081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REASONING ROLE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34411" y="1657350"/>
            <a:ext cx="4251312" cy="117723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4411" y="2815237"/>
            <a:ext cx="4251312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34411" y="1657350"/>
            <a:ext cx="4251312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34411" y="1657350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966674" y="1657350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66800" y="1781175"/>
            <a:ext cx="394518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INPUTS</a:t>
            </a:r>
            <a:endParaRPr lang="en-US" sz="1856" dirty="0"/>
          </a:p>
        </p:txBody>
      </p:sp>
      <p:sp>
        <p:nvSpPr>
          <p:cNvPr id="14" name="Text 12"/>
          <p:cNvSpPr/>
          <p:nvPr/>
        </p:nvSpPr>
        <p:spPr>
          <a:xfrm>
            <a:off x="1066800" y="2066925"/>
            <a:ext cx="3694131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Full built extension, TDD.md, Standards</a:t>
            </a:r>
            <a:endParaRPr lang="en-US" sz="2011" dirty="0"/>
          </a:p>
        </p:txBody>
      </p:sp>
      <p:sp>
        <p:nvSpPr>
          <p:cNvPr id="15" name="Shape 13"/>
          <p:cNvSpPr/>
          <p:nvPr/>
        </p:nvSpPr>
        <p:spPr>
          <a:xfrm>
            <a:off x="5015285" y="2236440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224835" y="2169765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472485" y="2815530"/>
            <a:ext cx="7343031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472485" y="1657350"/>
            <a:ext cx="7343031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2485" y="1657350"/>
            <a:ext cx="95250" cy="1177230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2796465" y="1657350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777285" y="1781175"/>
            <a:ext cx="7490594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ACTIONS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777285" y="2066925"/>
            <a:ext cx="7013920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Code quality, dead code, obsolete refs, anti-patterns, permission-set re-verify, BCQuality knowledge-backed review.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2948865" y="2236440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3158415" y="2169765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3302276" y="1657350"/>
            <a:ext cx="4251313" cy="1177230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3302276" y="2815237"/>
            <a:ext cx="4251313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3302276" y="1657350"/>
            <a:ext cx="4251313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3302276" y="1657350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7534539" y="1657350"/>
            <a:ext cx="19050" cy="117723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3663046" y="1781175"/>
            <a:ext cx="3945188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OUTPUT</a:t>
            </a:r>
            <a:endParaRPr lang="en-US" sz="1856" dirty="0"/>
          </a:p>
        </p:txBody>
      </p:sp>
      <p:sp>
        <p:nvSpPr>
          <p:cNvPr id="31" name="Text 29"/>
          <p:cNvSpPr/>
          <p:nvPr/>
        </p:nvSpPr>
        <p:spPr>
          <a:xfrm>
            <a:off x="13663046" y="2066925"/>
            <a:ext cx="3945188" cy="3600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CodeReview.md</a:t>
            </a:r>
            <a:endParaRPr lang="en-US" sz="2011" dirty="0"/>
          </a:p>
        </p:txBody>
      </p:sp>
      <p:sp>
        <p:nvSpPr>
          <p:cNvPr id="32" name="Shape 30"/>
          <p:cNvSpPr/>
          <p:nvPr/>
        </p:nvSpPr>
        <p:spPr>
          <a:xfrm>
            <a:off x="9134475" y="2929830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9067800" y="3006030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5032995" y="3206055"/>
            <a:ext cx="8221935" cy="4524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509245" y="3301305"/>
            <a:ext cx="7516093" cy="3000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EXIT GATE </a:t>
            </a:r>
            <a:r>
              <a:rPr lang="en-US" sz="1875" dirty="0">
                <a:solidFill>
                  <a:srgbClr val="F3F2F2"/>
                </a:solidFill>
                <a:highlight>
                  <a:srgbClr val="201E1D"/>
                </a:highlight>
                <a:latin typeface="Archivo" pitchFamily="34" charset="0"/>
                <a:ea typeface="Archivo" pitchFamily="34" charset="-122"/>
                <a:cs typeface="Archivo" pitchFamily="34" charset="-120"/>
              </a:rPr>
              <a:t>— critical findings resolved; dead-code scan 100% clean</a:t>
            </a:r>
            <a:endParaRPr lang="en-US" sz="1875" dirty="0"/>
          </a:p>
        </p:txBody>
      </p:sp>
      <p:sp>
        <p:nvSpPr>
          <p:cNvPr id="36" name="Shape 34"/>
          <p:cNvSpPr/>
          <p:nvPr/>
        </p:nvSpPr>
        <p:spPr>
          <a:xfrm>
            <a:off x="9134475" y="3753743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9067800" y="3829943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838200" y="4029968"/>
            <a:ext cx="1827276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C10E7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11 · UPDATE DESIGN DOCUMENTS</a:t>
            </a:r>
            <a:endParaRPr lang="en-US" sz="1950" dirty="0"/>
          </a:p>
        </p:txBody>
      </p:sp>
      <p:sp>
        <p:nvSpPr>
          <p:cNvPr id="39" name="Shape 37"/>
          <p:cNvSpPr/>
          <p:nvPr/>
        </p:nvSpPr>
        <p:spPr>
          <a:xfrm>
            <a:off x="706030" y="4396680"/>
            <a:ext cx="4328687" cy="1499146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706030" y="5876482"/>
            <a:ext cx="4328687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706030" y="4396680"/>
            <a:ext cx="4328687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706030" y="4396680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5015667" y="4396680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066800" y="4520505"/>
            <a:ext cx="396786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INPUTS</a:t>
            </a:r>
            <a:endParaRPr lang="en-US" sz="1856" dirty="0"/>
          </a:p>
        </p:txBody>
      </p:sp>
      <p:sp>
        <p:nvSpPr>
          <p:cNvPr id="45" name="Text 43"/>
          <p:cNvSpPr/>
          <p:nvPr/>
        </p:nvSpPr>
        <p:spPr>
          <a:xfrm>
            <a:off x="1066800" y="4806255"/>
            <a:ext cx="3715362" cy="100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TDD.md, FRD.md, ChangeLog, GapAnalysis.md, CodeReview.md</a:t>
            </a:r>
            <a:endParaRPr lang="en-US" sz="2011" dirty="0"/>
          </a:p>
        </p:txBody>
      </p:sp>
      <p:sp>
        <p:nvSpPr>
          <p:cNvPr id="46" name="Shape 44"/>
          <p:cNvSpPr/>
          <p:nvPr/>
        </p:nvSpPr>
        <p:spPr>
          <a:xfrm>
            <a:off x="5035897" y="5136728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5245447" y="5070053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5493097" y="4396680"/>
            <a:ext cx="7301805" cy="1499146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5721697" y="4520505"/>
            <a:ext cx="752906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ACTIONS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5721697" y="4806255"/>
            <a:ext cx="7049944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Write a new PostDevTDD.md (as-built); update FRD.md in place as the new baseline.</a:t>
            </a:r>
            <a:endParaRPr lang="en-US" sz="1950" dirty="0"/>
          </a:p>
        </p:txBody>
      </p:sp>
      <p:sp>
        <p:nvSpPr>
          <p:cNvPr id="51" name="Shape 49"/>
          <p:cNvSpPr/>
          <p:nvPr/>
        </p:nvSpPr>
        <p:spPr>
          <a:xfrm>
            <a:off x="12928253" y="5136728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13137803" y="5070053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13253283" y="4396680"/>
            <a:ext cx="4328687" cy="1499146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13253283" y="5876482"/>
            <a:ext cx="4328687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13253283" y="4396680"/>
            <a:ext cx="4328687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13253283" y="4396680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17562920" y="4396680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13642434" y="4520505"/>
            <a:ext cx="396786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OUTPUT</a:t>
            </a:r>
            <a:endParaRPr lang="en-US" sz="1856" dirty="0"/>
          </a:p>
        </p:txBody>
      </p:sp>
      <p:sp>
        <p:nvSpPr>
          <p:cNvPr id="59" name="Text 57"/>
          <p:cNvSpPr/>
          <p:nvPr/>
        </p:nvSpPr>
        <p:spPr>
          <a:xfrm>
            <a:off x="13642434" y="4806255"/>
            <a:ext cx="3715362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PostDevTDD.md, updated FRD.md</a:t>
            </a:r>
            <a:endParaRPr lang="en-US" sz="2011" dirty="0"/>
          </a:p>
        </p:txBody>
      </p:sp>
      <p:sp>
        <p:nvSpPr>
          <p:cNvPr id="60" name="Shape 58"/>
          <p:cNvSpPr/>
          <p:nvPr/>
        </p:nvSpPr>
        <p:spPr>
          <a:xfrm>
            <a:off x="9134475" y="5991076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9067800" y="6067276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5470103" y="6267301"/>
            <a:ext cx="7347719" cy="4524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5946353" y="6362551"/>
            <a:ext cx="6615651" cy="3000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EXIT GATE </a:t>
            </a:r>
            <a:r>
              <a:rPr lang="en-US" sz="1875" dirty="0">
                <a:solidFill>
                  <a:srgbClr val="F3F2F2"/>
                </a:solidFill>
                <a:highlight>
                  <a:srgbClr val="201E1D"/>
                </a:highlight>
                <a:latin typeface="Archivo" pitchFamily="34" charset="0"/>
                <a:ea typeface="Archivo" pitchFamily="34" charset="-122"/>
                <a:cs typeface="Archivo" pitchFamily="34" charset="-120"/>
              </a:rPr>
              <a:t>— as-built TDD regenerable; FRD reflects reality</a:t>
            </a:r>
            <a:endParaRPr lang="en-US" sz="1875" dirty="0"/>
          </a:p>
        </p:txBody>
      </p:sp>
      <p:sp>
        <p:nvSpPr>
          <p:cNvPr id="64" name="Shape 62"/>
          <p:cNvSpPr/>
          <p:nvPr/>
        </p:nvSpPr>
        <p:spPr>
          <a:xfrm>
            <a:off x="9134475" y="6814989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9067800" y="6891189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838200" y="7091214"/>
            <a:ext cx="18272760" cy="3095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950" b="1" kern="0" spc="195" dirty="0">
                <a:solidFill>
                  <a:srgbClr val="C10E7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12 · DOCUMENT THE CODE</a:t>
            </a:r>
            <a:endParaRPr lang="en-US" sz="1950" dirty="0"/>
          </a:p>
        </p:txBody>
      </p:sp>
      <p:sp>
        <p:nvSpPr>
          <p:cNvPr id="67" name="Shape 65"/>
          <p:cNvSpPr/>
          <p:nvPr/>
        </p:nvSpPr>
        <p:spPr>
          <a:xfrm>
            <a:off x="706030" y="7457926"/>
            <a:ext cx="4328687" cy="1499146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706030" y="8937728"/>
            <a:ext cx="4328687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706030" y="7457926"/>
            <a:ext cx="4328687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706030" y="7457926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5015667" y="7457926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1095181" y="7581751"/>
            <a:ext cx="396786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INPUTS</a:t>
            </a:r>
            <a:endParaRPr lang="en-US" sz="1856" dirty="0"/>
          </a:p>
        </p:txBody>
      </p:sp>
      <p:sp>
        <p:nvSpPr>
          <p:cNvPr id="73" name="Text 71"/>
          <p:cNvSpPr/>
          <p:nvPr/>
        </p:nvSpPr>
        <p:spPr>
          <a:xfrm>
            <a:off x="1095181" y="7867501"/>
            <a:ext cx="3715362" cy="681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PostDevTDD.md, built AL, Step 09 test-run record</a:t>
            </a:r>
            <a:endParaRPr lang="en-US" sz="2011" dirty="0"/>
          </a:p>
        </p:txBody>
      </p:sp>
      <p:sp>
        <p:nvSpPr>
          <p:cNvPr id="74" name="Shape 72"/>
          <p:cNvSpPr/>
          <p:nvPr/>
        </p:nvSpPr>
        <p:spPr>
          <a:xfrm>
            <a:off x="5035897" y="8197974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5245447" y="8131299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5493097" y="7457926"/>
            <a:ext cx="7301805" cy="1499146"/>
          </a:xfrm>
          <a:prstGeom prst="rect">
            <a:avLst/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5721697" y="7581751"/>
            <a:ext cx="7529066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ACTIONS</a:t>
            </a:r>
            <a:endParaRPr lang="en-US" sz="1800" dirty="0"/>
          </a:p>
        </p:txBody>
      </p:sp>
      <p:sp>
        <p:nvSpPr>
          <p:cNvPr id="78" name="Text 76"/>
          <p:cNvSpPr/>
          <p:nvPr/>
        </p:nvSpPr>
        <p:spPr>
          <a:xfrm>
            <a:off x="5721697" y="7867501"/>
            <a:ext cx="7049944" cy="100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195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Generate reference docs and a Mermaid ER diagram — render it — plus a human test script, UserGuide.md and Deployment.md.</a:t>
            </a:r>
            <a:endParaRPr lang="en-US" sz="1950" dirty="0"/>
          </a:p>
        </p:txBody>
      </p:sp>
      <p:sp>
        <p:nvSpPr>
          <p:cNvPr id="79" name="Shape 77"/>
          <p:cNvSpPr/>
          <p:nvPr/>
        </p:nvSpPr>
        <p:spPr>
          <a:xfrm>
            <a:off x="12928253" y="8197974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13137803" y="8131299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13253283" y="7457926"/>
            <a:ext cx="4328687" cy="1499146"/>
          </a:xfrm>
          <a:prstGeom prst="rect">
            <a:avLst/>
          </a:prstGeom>
          <a:solidFill>
            <a:srgbClr val="EAE9E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13253283" y="8937728"/>
            <a:ext cx="4328687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13253283" y="7457926"/>
            <a:ext cx="4328687" cy="19344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13253283" y="7457926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17562920" y="7457926"/>
            <a:ext cx="19050" cy="1499146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13614053" y="7581751"/>
            <a:ext cx="396786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56" b="1" kern="0" spc="180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OUTPUT</a:t>
            </a:r>
            <a:endParaRPr lang="en-US" sz="1856" dirty="0"/>
          </a:p>
        </p:txBody>
      </p:sp>
      <p:sp>
        <p:nvSpPr>
          <p:cNvPr id="87" name="Text 85"/>
          <p:cNvSpPr/>
          <p:nvPr/>
        </p:nvSpPr>
        <p:spPr>
          <a:xfrm>
            <a:off x="13614053" y="7867501"/>
            <a:ext cx="3715362" cy="100384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18596"/>
              </a:lnSpc>
              <a:buNone/>
            </a:pPr>
            <a:r>
              <a:rPr lang="en-US" sz="201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Documentation · UserGuide · HumanUnitTestScript · Deployment</a:t>
            </a:r>
            <a:endParaRPr lang="en-US" sz="2011" dirty="0"/>
          </a:p>
        </p:txBody>
      </p:sp>
      <p:sp>
        <p:nvSpPr>
          <p:cNvPr id="88" name="Shape 86"/>
          <p:cNvSpPr/>
          <p:nvPr/>
        </p:nvSpPr>
        <p:spPr>
          <a:xfrm>
            <a:off x="9134475" y="9052322"/>
            <a:ext cx="19050" cy="762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9067800" y="9128522"/>
            <a:ext cx="152400" cy="10477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3302719" y="9347597"/>
            <a:ext cx="7364164" cy="452438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3778969" y="9442847"/>
            <a:ext cx="6632589" cy="300038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EXIT GATE </a:t>
            </a:r>
            <a:r>
              <a:rPr lang="en-US" sz="1875" dirty="0">
                <a:solidFill>
                  <a:srgbClr val="F3F2F2"/>
                </a:solidFill>
                <a:highlight>
                  <a:srgbClr val="201E1D"/>
                </a:highlight>
                <a:latin typeface="Archivo" pitchFamily="34" charset="0"/>
                <a:ea typeface="Archivo" pitchFamily="34" charset="-122"/>
                <a:cs typeface="Archivo" pitchFamily="34" charset="-120"/>
              </a:rPr>
              <a:t>— reference generated from code; ready for UAT</a:t>
            </a:r>
            <a:endParaRPr lang="en-US" sz="1875" dirty="0"/>
          </a:p>
        </p:txBody>
      </p:sp>
      <p:sp>
        <p:nvSpPr>
          <p:cNvPr id="92" name="Shape 90"/>
          <p:cNvSpPr/>
          <p:nvPr/>
        </p:nvSpPr>
        <p:spPr>
          <a:xfrm>
            <a:off x="10857384" y="9564291"/>
            <a:ext cx="20955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11066934" y="9497616"/>
            <a:ext cx="114300" cy="15240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11371734" y="9328547"/>
            <a:ext cx="3613547" cy="490538"/>
          </a:xfrm>
          <a:prstGeom prst="roundRect">
            <a:avLst>
              <a:gd name="adj" fmla="val 50000"/>
            </a:avLst>
          </a:prstGeom>
          <a:ln w="19050">
            <a:solidFill>
              <a:srgbClr val="201E1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11638434" y="9442847"/>
            <a:ext cx="318855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Deployed, Documented App</a:t>
            </a:r>
            <a:endParaRPr lang="en-US" sz="1875" dirty="0"/>
          </a:p>
        </p:txBody>
      </p:sp>
      <p:sp>
        <p:nvSpPr>
          <p:cNvPr id="96" name="Text 94"/>
          <p:cNvSpPr/>
          <p:nvPr/>
        </p:nvSpPr>
        <p:spPr>
          <a:xfrm>
            <a:off x="15229284" y="982980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7D79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8200" y="457200"/>
            <a:ext cx="1827276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288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SCHEMATIC 5 — CROSS-CUTTING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38200" y="781050"/>
            <a:ext cx="18272760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92308"/>
              </a:lnSpc>
              <a:buNone/>
            </a:pPr>
            <a:r>
              <a:rPr lang="en-US" sz="4500" b="1" kern="0" spc="-90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ALL ALONG — continuous discipline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838200" y="1504950"/>
            <a:ext cx="166116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38200" y="2443163"/>
            <a:ext cx="3688556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38200" y="1733550"/>
            <a:ext cx="3688556" cy="114300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38200" y="1733550"/>
            <a:ext cx="19050" cy="72866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507706" y="1733550"/>
            <a:ext cx="19050" cy="72866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47750" y="1981200"/>
            <a:ext cx="3380113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DEFINE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660106" y="2088356"/>
            <a:ext cx="2286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88706" y="2012156"/>
            <a:ext cx="123825" cy="171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145881" y="2443163"/>
            <a:ext cx="3688556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145881" y="1733550"/>
            <a:ext cx="3688556" cy="114300"/>
          </a:xfrm>
          <a:prstGeom prst="rect">
            <a:avLst/>
          </a:prstGeom>
          <a:solidFill>
            <a:srgbClr val="0A7C8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145881" y="1733550"/>
            <a:ext cx="19050" cy="72866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815388" y="1733550"/>
            <a:ext cx="19050" cy="72866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355431" y="1981200"/>
            <a:ext cx="3380113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DESIGN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967788" y="2088356"/>
            <a:ext cx="2286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9196388" y="2012156"/>
            <a:ext cx="123825" cy="171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453563" y="2443163"/>
            <a:ext cx="3688556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453563" y="1733550"/>
            <a:ext cx="3688556" cy="114300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9453563" y="1733550"/>
            <a:ext cx="19050" cy="72866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3123069" y="1733550"/>
            <a:ext cx="19050" cy="72866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663112" y="1981200"/>
            <a:ext cx="3380113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BUILD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13275469" y="2088356"/>
            <a:ext cx="228600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3504069" y="2012156"/>
            <a:ext cx="123825" cy="1714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3761244" y="2443163"/>
            <a:ext cx="3688556" cy="190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3761244" y="1733550"/>
            <a:ext cx="3688556" cy="114300"/>
          </a:xfrm>
          <a:prstGeom prst="rect">
            <a:avLst/>
          </a:prstGeom>
          <a:solidFill>
            <a:srgbClr val="C10E7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3761244" y="1733550"/>
            <a:ext cx="19050" cy="72866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7430750" y="1733550"/>
            <a:ext cx="19050" cy="728663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3970794" y="1981200"/>
            <a:ext cx="3380113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PROVE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3825553" y="2671763"/>
            <a:ext cx="171450" cy="12382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901753" y="2795588"/>
            <a:ext cx="19050" cy="2095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7314009" y="2671763"/>
            <a:ext cx="171450" cy="12382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7390209" y="2795588"/>
            <a:ext cx="19050" cy="2095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0802466" y="2671763"/>
            <a:ext cx="171450" cy="12382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10878666" y="2795588"/>
            <a:ext cx="19050" cy="2095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14290923" y="2671763"/>
            <a:ext cx="171450" cy="123825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14367123" y="2795588"/>
            <a:ext cx="19050" cy="209550"/>
          </a:xfrm>
          <a:prstGeom prst="rect">
            <a:avLst/>
          </a:prstGeom>
          <a:solidFill>
            <a:srgbClr val="201E1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838200" y="3214688"/>
            <a:ext cx="16611600" cy="6615113"/>
          </a:xfrm>
          <a:prstGeom prst="rect">
            <a:avLst/>
          </a:prstGeom>
          <a:ln w="19050">
            <a:solidFill>
              <a:srgbClr val="201E1D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1104900" y="3443288"/>
            <a:ext cx="1988924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ALL ALONG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3103513" y="3500438"/>
            <a:ext cx="41614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75" kern="0" spc="188" dirty="0">
                <a:solidFill>
                  <a:srgbClr val="605D5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PHASE, EVERY STEP</a:t>
            </a:r>
            <a:endParaRPr lang="en-US" sz="1875" dirty="0"/>
          </a:p>
        </p:txBody>
      </p:sp>
      <p:sp>
        <p:nvSpPr>
          <p:cNvPr id="42" name="Shape 40"/>
          <p:cNvSpPr/>
          <p:nvPr/>
        </p:nvSpPr>
        <p:spPr>
          <a:xfrm>
            <a:off x="1104900" y="3943350"/>
            <a:ext cx="16078200" cy="5657850"/>
          </a:xfrm>
          <a:prstGeom prst="rect">
            <a:avLst/>
          </a:prstGeom>
          <a:solidFill>
            <a:srgbClr val="C9C6C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1104900" y="3943350"/>
            <a:ext cx="4005262" cy="2819400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1276350" y="4095750"/>
            <a:ext cx="4028599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Document</a:t>
            </a:r>
            <a:endParaRPr lang="en-US" sz="2175" dirty="0"/>
          </a:p>
        </p:txBody>
      </p:sp>
      <p:sp>
        <p:nvSpPr>
          <p:cNvPr id="45" name="Text 43"/>
          <p:cNvSpPr/>
          <p:nvPr/>
        </p:nvSpPr>
        <p:spPr>
          <a:xfrm>
            <a:off x="1276350" y="4452938"/>
            <a:ext cx="3772233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82"/>
              </a:lnSpc>
              <a:buNone/>
            </a:pPr>
            <a:r>
              <a:rPr lang="en-US" sz="187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Keep every required doc current, not retroactively.</a:t>
            </a:r>
            <a:endParaRPr lang="en-US" sz="1875" dirty="0"/>
          </a:p>
        </p:txBody>
      </p:sp>
      <p:sp>
        <p:nvSpPr>
          <p:cNvPr id="46" name="Shape 44"/>
          <p:cNvSpPr/>
          <p:nvPr/>
        </p:nvSpPr>
        <p:spPr>
          <a:xfrm>
            <a:off x="5129213" y="3943350"/>
            <a:ext cx="4005262" cy="2819400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5300663" y="4095750"/>
            <a:ext cx="4028599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Track Changes</a:t>
            </a:r>
            <a:endParaRPr lang="en-US" sz="2175" dirty="0"/>
          </a:p>
        </p:txBody>
      </p:sp>
      <p:sp>
        <p:nvSpPr>
          <p:cNvPr id="48" name="Text 46"/>
          <p:cNvSpPr/>
          <p:nvPr/>
        </p:nvSpPr>
        <p:spPr>
          <a:xfrm>
            <a:off x="5300663" y="4452938"/>
            <a:ext cx="3772233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82"/>
              </a:lnSpc>
              <a:buNone/>
            </a:pPr>
            <a:r>
              <a:rPr lang="en-US" sz="187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FRD/TDD deviation logged before the next batch.</a:t>
            </a:r>
            <a:endParaRPr lang="en-US" sz="1875" dirty="0"/>
          </a:p>
        </p:txBody>
      </p:sp>
      <p:sp>
        <p:nvSpPr>
          <p:cNvPr id="49" name="Shape 47"/>
          <p:cNvSpPr/>
          <p:nvPr/>
        </p:nvSpPr>
        <p:spPr>
          <a:xfrm>
            <a:off x="9153525" y="3943350"/>
            <a:ext cx="4005262" cy="2819400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9324975" y="4095750"/>
            <a:ext cx="4028599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Retain Explanations</a:t>
            </a:r>
            <a:endParaRPr lang="en-US" sz="2175" dirty="0"/>
          </a:p>
        </p:txBody>
      </p:sp>
      <p:sp>
        <p:nvSpPr>
          <p:cNvPr id="51" name="Text 49"/>
          <p:cNvSpPr/>
          <p:nvPr/>
        </p:nvSpPr>
        <p:spPr>
          <a:xfrm>
            <a:off x="9324975" y="4452938"/>
            <a:ext cx="3772233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82"/>
              </a:lnSpc>
              <a:buNone/>
            </a:pPr>
            <a:r>
              <a:rPr lang="en-US" sz="187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Who decided, and why — not just the outcome.</a:t>
            </a:r>
            <a:endParaRPr lang="en-US" sz="1875" dirty="0"/>
          </a:p>
        </p:txBody>
      </p:sp>
      <p:sp>
        <p:nvSpPr>
          <p:cNvPr id="52" name="Shape 50"/>
          <p:cNvSpPr/>
          <p:nvPr/>
        </p:nvSpPr>
        <p:spPr>
          <a:xfrm>
            <a:off x="13177838" y="3943350"/>
            <a:ext cx="4005262" cy="2819400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13349288" y="4095750"/>
            <a:ext cx="4028599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Testing Feedback Log</a:t>
            </a:r>
            <a:endParaRPr lang="en-US" sz="2175" dirty="0"/>
          </a:p>
        </p:txBody>
      </p:sp>
      <p:sp>
        <p:nvSpPr>
          <p:cNvPr id="54" name="Text 52"/>
          <p:cNvSpPr/>
          <p:nvPr/>
        </p:nvSpPr>
        <p:spPr>
          <a:xfrm>
            <a:off x="13349288" y="4452938"/>
            <a:ext cx="3772233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82"/>
              </a:lnSpc>
              <a:buNone/>
            </a:pPr>
            <a:r>
              <a:rPr lang="en-US" sz="187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Verbatim findings, triaged explicitly, cross-referenced.</a:t>
            </a:r>
            <a:endParaRPr lang="en-US" sz="1875" dirty="0"/>
          </a:p>
        </p:txBody>
      </p:sp>
      <p:sp>
        <p:nvSpPr>
          <p:cNvPr id="55" name="Shape 53"/>
          <p:cNvSpPr/>
          <p:nvPr/>
        </p:nvSpPr>
        <p:spPr>
          <a:xfrm>
            <a:off x="1104900" y="6781800"/>
            <a:ext cx="4005262" cy="2819400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1276350" y="6934200"/>
            <a:ext cx="4028599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Project Memory</a:t>
            </a:r>
            <a:endParaRPr lang="en-US" sz="2175" dirty="0"/>
          </a:p>
        </p:txBody>
      </p:sp>
      <p:sp>
        <p:nvSpPr>
          <p:cNvPr id="57" name="Text 55"/>
          <p:cNvSpPr/>
          <p:nvPr/>
        </p:nvSpPr>
        <p:spPr>
          <a:xfrm>
            <a:off x="1276350" y="7291388"/>
            <a:ext cx="3772233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82"/>
              </a:lnSpc>
              <a:buNone/>
            </a:pPr>
            <a:r>
              <a:rPr lang="en-US" sz="187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docs/ProjectMemory.md — an anchor, not a narrative.</a:t>
            </a:r>
            <a:endParaRPr lang="en-US" sz="1875" dirty="0"/>
          </a:p>
        </p:txBody>
      </p:sp>
      <p:sp>
        <p:nvSpPr>
          <p:cNvPr id="58" name="Shape 56"/>
          <p:cNvSpPr/>
          <p:nvPr/>
        </p:nvSpPr>
        <p:spPr>
          <a:xfrm>
            <a:off x="5129213" y="6781800"/>
            <a:ext cx="4005262" cy="2819400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5300663" y="6934200"/>
            <a:ext cx="4028599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Packaging &amp; Versioning</a:t>
            </a:r>
            <a:endParaRPr lang="en-US" sz="2175" dirty="0"/>
          </a:p>
        </p:txBody>
      </p:sp>
      <p:sp>
        <p:nvSpPr>
          <p:cNvPr id="60" name="Text 58"/>
          <p:cNvSpPr/>
          <p:nvPr/>
        </p:nvSpPr>
        <p:spPr>
          <a:xfrm>
            <a:off x="5300663" y="7291388"/>
            <a:ext cx="3772233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82"/>
              </a:lnSpc>
              <a:buNone/>
            </a:pPr>
            <a:r>
              <a:rPr lang="en-US" sz="187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Never delete a package; propose bumps, don't apply silently.</a:t>
            </a:r>
            <a:endParaRPr lang="en-US" sz="1875" dirty="0"/>
          </a:p>
        </p:txBody>
      </p:sp>
      <p:sp>
        <p:nvSpPr>
          <p:cNvPr id="61" name="Shape 59"/>
          <p:cNvSpPr/>
          <p:nvPr/>
        </p:nvSpPr>
        <p:spPr>
          <a:xfrm>
            <a:off x="9153525" y="6781800"/>
            <a:ext cx="4005262" cy="2819400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9324975" y="6934200"/>
            <a:ext cx="4028599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AL MCP Server</a:t>
            </a:r>
            <a:endParaRPr lang="en-US" sz="2175" dirty="0"/>
          </a:p>
        </p:txBody>
      </p:sp>
      <p:sp>
        <p:nvSpPr>
          <p:cNvPr id="63" name="Text 61"/>
          <p:cNvSpPr/>
          <p:nvPr/>
        </p:nvSpPr>
        <p:spPr>
          <a:xfrm>
            <a:off x="9324975" y="7291388"/>
            <a:ext cx="3772233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82"/>
              </a:lnSpc>
              <a:buNone/>
            </a:pPr>
            <a:r>
              <a:rPr lang="en-US" sz="187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Bootstrap once; prefer its tools over ad hoc terminal use.</a:t>
            </a:r>
            <a:endParaRPr lang="en-US" sz="1875" dirty="0"/>
          </a:p>
        </p:txBody>
      </p:sp>
      <p:sp>
        <p:nvSpPr>
          <p:cNvPr id="64" name="Shape 62"/>
          <p:cNvSpPr/>
          <p:nvPr/>
        </p:nvSpPr>
        <p:spPr>
          <a:xfrm>
            <a:off x="13177838" y="6781800"/>
            <a:ext cx="4005262" cy="2819400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13349288" y="6934200"/>
            <a:ext cx="4028599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BCQuality Snapshot</a:t>
            </a:r>
            <a:endParaRPr lang="en-US" sz="2175" dirty="0"/>
          </a:p>
        </p:txBody>
      </p:sp>
      <p:sp>
        <p:nvSpPr>
          <p:cNvPr id="66" name="Text 64"/>
          <p:cNvSpPr/>
          <p:nvPr/>
        </p:nvSpPr>
        <p:spPr>
          <a:xfrm>
            <a:off x="13349288" y="7291388"/>
            <a:ext cx="3772233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82"/>
              </a:lnSpc>
              <a:buNone/>
            </a:pPr>
            <a:r>
              <a:rPr lang="en-US" sz="1875" dirty="0">
                <a:solidFill>
                  <a:srgbClr val="201E1D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Fetch once; refresh only on explicit request.</a:t>
            </a:r>
            <a:endParaRPr lang="en-US" sz="1875" dirty="0"/>
          </a:p>
        </p:txBody>
      </p:sp>
      <p:sp>
        <p:nvSpPr>
          <p:cNvPr id="67" name="Text 65"/>
          <p:cNvSpPr/>
          <p:nvPr/>
        </p:nvSpPr>
        <p:spPr>
          <a:xfrm>
            <a:off x="15229284" y="982980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7D797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01E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914400"/>
            <a:ext cx="15901307" cy="4245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35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ONLYCOPILOTFANS — BC AGENTIC DEVELOPMENT FRAMEWORK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1047750" y="3275261"/>
            <a:ext cx="15304770" cy="2741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1176"/>
              </a:lnSpc>
              <a:buNone/>
            </a:pPr>
            <a:r>
              <a:rPr lang="en-US" sz="6450" b="1" kern="0" spc="-193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Simple Enough for Functional Consultants</a:t>
            </a:r>
            <a:r>
              <a:rPr lang="en-US" sz="6450" b="1" kern="0" spc="-193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. </a:t>
            </a:r>
          </a:p>
          <a:p>
            <a:pPr marL="0" indent="0" algn="l">
              <a:lnSpc>
                <a:spcPct val="101176"/>
              </a:lnSpc>
              <a:buNone/>
            </a:pPr>
            <a:r>
              <a:rPr lang="en-US" sz="6450" b="1" kern="0" spc="-193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Robust </a:t>
            </a:r>
            <a:r>
              <a:rPr lang="en-US" sz="6450" b="1" kern="0" spc="-193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Enough for Pro Developers.</a:t>
            </a:r>
            <a:endParaRPr lang="en-US" sz="6450" dirty="0"/>
          </a:p>
        </p:txBody>
      </p:sp>
      <p:sp>
        <p:nvSpPr>
          <p:cNvPr id="4" name="Shape 2"/>
          <p:cNvSpPr/>
          <p:nvPr/>
        </p:nvSpPr>
        <p:spPr>
          <a:xfrm>
            <a:off x="1047750" y="6397377"/>
            <a:ext cx="16192500" cy="19050"/>
          </a:xfrm>
          <a:prstGeom prst="rect">
            <a:avLst/>
          </a:prstGeom>
          <a:solidFill>
            <a:srgbClr val="F3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7750" y="6835527"/>
            <a:ext cx="1781175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3F2F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Created by AJ Ansari, Microsoft MVP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1047750" y="9277350"/>
            <a:ext cx="4048125" cy="95250"/>
          </a:xfrm>
          <a:prstGeom prst="rect">
            <a:avLst/>
          </a:prstGeom>
          <a:solidFill>
            <a:srgbClr val="0F6C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095875" y="9277350"/>
            <a:ext cx="4048125" cy="95250"/>
          </a:xfrm>
          <a:prstGeom prst="rect">
            <a:avLst/>
          </a:prstGeom>
          <a:solidFill>
            <a:srgbClr val="0A7C8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144000" y="9277350"/>
            <a:ext cx="4048125" cy="95250"/>
          </a:xfrm>
          <a:prstGeom prst="rect">
            <a:avLst/>
          </a:prstGeom>
          <a:solidFill>
            <a:srgbClr val="6B4FC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3192125" y="9277350"/>
            <a:ext cx="4048125" cy="95250"/>
          </a:xfrm>
          <a:prstGeom prst="rect">
            <a:avLst/>
          </a:prstGeom>
          <a:solidFill>
            <a:srgbClr val="C10E7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5229284" y="9829800"/>
            <a:ext cx="296644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kern="0" spc="72" dirty="0">
                <a:solidFill>
                  <a:srgbClr val="F3F2F2">
                    <a:alpha val="72000"/>
                  </a:srgbClr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© 2026 OnlyCopilotFans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060A4F3-FB9B-0643-A253-4F05C25831FF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49fd71a0-3235-45e1-89bc-7c0e9a4eb82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2511</Words>
  <Application>Microsoft Macintosh PowerPoint</Application>
  <PresentationFormat>Custom</PresentationFormat>
  <Paragraphs>362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Archivo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AJ Ansari</cp:lastModifiedBy>
  <cp:revision>10</cp:revision>
  <dcterms:created xsi:type="dcterms:W3CDTF">2026-09-12T11:24:29Z</dcterms:created>
  <dcterms:modified xsi:type="dcterms:W3CDTF">2026-09-12T13:13:39Z</dcterms:modified>
</cp:coreProperties>
</file>
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86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The framework is a runbook: four phases, twelve steps, an exit gate on every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Shapes are consistent across every schematic. Colors mark the three roles; if 1.7 is not configured, one model does all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picture: four phases in sequence, ALL ALONG running underneath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rule: do not start a step until its predecessor's exit gate is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BUILD's gate for step 06 requires no compile. PROVE ends at UAT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1.7 is not configured, everything runs through one model. If it is, the three-role division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one. Nothing is inferred here;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step: inputs in, actions, outputs out, then the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two. The TDD has to be self-sufficient — buildable without going back to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drafts come from the Reasoning role; the Main role integrates and carries them to the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most reshaped by the project's own lessons: no per-batch compile, symbol-verified lint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06 repeats per batch: approve, generate, two pre-flight passes, coverage across all batches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Rule 4. One compile, then a root-cause loop until zero and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four. Prove it does what the FRD said, then leave documentation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three-way comparison is the heart of step 08. Gap-fill work gets its own pass through 05/06/07.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10 to 12 leave the documentation set behind: as-built TDD, updated FRD, and four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disciplines that never stop. Documentation is kept current, not reconstructed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and the 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4400"/>
            <a:ext cx="4048125" cy="952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95875" y="914400"/>
            <a:ext cx="4048125" cy="952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914400"/>
            <a:ext cx="4048125" cy="952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92125" y="914400"/>
            <a:ext cx="4048125" cy="952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932236"/>
            <a:ext cx="4572000" cy="1527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3841031"/>
            <a:ext cx="14716125" cy="2499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97"/>
              </a:lnSpc>
              <a:buNone/>
            </a:pPr>
            <a:r>
              <a:rPr lang="en-US" sz="10200" b="1" kern="0" spc="-30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Agentic Development Framework</a:t>
            </a:r>
            <a:endParaRPr lang="en-US" sz="10200" dirty="0"/>
          </a:p>
        </p:txBody>
      </p:sp>
      <p:sp>
        <p:nvSpPr>
          <p:cNvPr id="8" name="Shape 5"/>
          <p:cNvSpPr/>
          <p:nvPr/>
        </p:nvSpPr>
        <p:spPr>
          <a:xfrm>
            <a:off x="1047750" y="6721301"/>
            <a:ext cx="161925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7750" y="7159451"/>
            <a:ext cx="1216533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Simple Enough for Functional Consultants. Robust Enough for Pro Developers.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1047750" y="9082088"/>
            <a:ext cx="496207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Created by AJ Ansari, Microsoft MVP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619905" y="9124950"/>
            <a:ext cx="6182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Playbook — four phases, twelve steps, twelve gates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5334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READING THE SCHEMATICS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876300"/>
            <a:ext cx="18272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92"/>
              </a:lnSpc>
              <a:buNone/>
            </a:pPr>
            <a:r>
              <a:rPr lang="en-US" sz="5100" b="1" kern="0" spc="-10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Shapes and roles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838200" y="17145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2057400"/>
            <a:ext cx="89847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SHAPE LEGEND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" y="2533650"/>
            <a:ext cx="1595958" cy="514350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900" y="2667000"/>
            <a:ext cx="11387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 / 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19450" y="2652713"/>
            <a:ext cx="32153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 or end point of a flow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38200" y="3276600"/>
            <a:ext cx="1220167" cy="5143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4900" y="3409950"/>
            <a:ext cx="7629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19450" y="3395663"/>
            <a:ext cx="33096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action, step, or process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792853" y="4019550"/>
            <a:ext cx="1052272" cy="5143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2853" y="4514556"/>
            <a:ext cx="105227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2853" y="4019550"/>
            <a:ext cx="105227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2853" y="4019550"/>
            <a:ext cx="19050" cy="5143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6075" y="4019550"/>
            <a:ext cx="19050" cy="5143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4900" y="4156454"/>
            <a:ext cx="504379" cy="278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56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</a:t>
            </a:r>
            <a:endParaRPr lang="en-US" sz="1856" dirty="0"/>
          </a:p>
        </p:txBody>
      </p:sp>
      <p:sp>
        <p:nvSpPr>
          <p:cNvPr id="18" name="Text 16"/>
          <p:cNvSpPr/>
          <p:nvPr/>
        </p:nvSpPr>
        <p:spPr>
          <a:xfrm>
            <a:off x="3219450" y="4138613"/>
            <a:ext cx="43865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 or output — data, a document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838200" y="4762500"/>
            <a:ext cx="1677814" cy="4762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9200" y="4876800"/>
            <a:ext cx="9920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19450" y="4862513"/>
            <a:ext cx="58538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exit gate — the checkpoint that must be met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38200" y="5467350"/>
            <a:ext cx="1800523" cy="552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7250" y="5486400"/>
            <a:ext cx="1762423" cy="5143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95400" y="5619750"/>
            <a:ext cx="962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Choice?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19450" y="5605463"/>
            <a:ext cx="19937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decision point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38200" y="6248400"/>
            <a:ext cx="1446461" cy="514350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4900" y="6381750"/>
            <a:ext cx="9892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19450" y="6367463"/>
            <a:ext cx="55557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cross-cutting concern, running underneath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539511" y="2057400"/>
            <a:ext cx="19050" cy="769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91961" y="2057400"/>
            <a:ext cx="80936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ROLE LEGEND — §1.7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91961" y="2552700"/>
            <a:ext cx="190500" cy="53340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1061" y="2552700"/>
            <a:ext cx="73624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role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0511061" y="2867025"/>
            <a:ext cx="736240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Generates and edits all code; owns the continuity documents.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091961" y="3386138"/>
            <a:ext cx="190500" cy="53340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1061" y="3386138"/>
            <a:ext cx="72158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role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511061" y="3700463"/>
            <a:ext cx="721588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Post-generation pre-flight only. Reports findings, never edits.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091961" y="4219575"/>
            <a:ext cx="190500" cy="5334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511061" y="4219575"/>
            <a:ext cx="7632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0511061" y="4533900"/>
            <a:ext cx="714690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Authors, reviews, diagnoses. Never edits code or continuity docs.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091961" y="5400675"/>
            <a:ext cx="7357839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91961" y="5648325"/>
            <a:ext cx="757857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281"/>
              </a:lnSpc>
              <a:buNone/>
            </a:pPr>
            <a:r>
              <a:rPr lang="en-US" sz="1950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§1.7 role assignment isn't configured, every colored step is done by the single running model instead.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5334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876300"/>
            <a:ext cx="18272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892"/>
              </a:lnSpc>
              <a:buNone/>
            </a:pPr>
            <a:r>
              <a:rPr lang="en-US" sz="5100" b="1" kern="0" spc="-10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whole framework in one picture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838200" y="17145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4425330"/>
            <a:ext cx="1905000" cy="1152525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6800" y="4692030"/>
            <a:ext cx="15240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Business Problem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57500" y="4992067"/>
            <a:ext cx="285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43250" y="4915867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1375" y="7907685"/>
            <a:ext cx="240268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1375" y="2076450"/>
            <a:ext cx="2402681" cy="1333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1375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5006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29025" y="2419350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9025" y="2762250"/>
            <a:ext cx="2098119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3629025" y="3376613"/>
            <a:ext cx="1983581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the problem, fill in parameters.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3629025" y="7202835"/>
            <a:ext cx="19835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PRE-01 · PRE-02 · 01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98356" y="4992067"/>
            <a:ext cx="285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84106" y="4915867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22231" y="7907685"/>
            <a:ext cx="240268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22231" y="2076450"/>
            <a:ext cx="2402681" cy="1333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2231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05863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9881" y="2419350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69881" y="2762250"/>
            <a:ext cx="2098119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3750" dirty="0"/>
          </a:p>
        </p:txBody>
      </p:sp>
      <p:sp>
        <p:nvSpPr>
          <p:cNvPr id="25" name="Text 23"/>
          <p:cNvSpPr/>
          <p:nvPr/>
        </p:nvSpPr>
        <p:spPr>
          <a:xfrm>
            <a:off x="6669881" y="3376613"/>
            <a:ext cx="198358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FRD, plus a self-sufficient TDD.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6669881" y="7450485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03 · 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939213" y="4992067"/>
            <a:ext cx="285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24963" y="4915867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63088" y="7907685"/>
            <a:ext cx="240268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463088" y="2076450"/>
            <a:ext cx="2402681" cy="1333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63088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846719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10738" y="2419350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10738" y="2762250"/>
            <a:ext cx="2098119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</a:t>
            </a:r>
            <a:endParaRPr lang="en-US" sz="3750" dirty="0"/>
          </a:p>
        </p:txBody>
      </p:sp>
      <p:sp>
        <p:nvSpPr>
          <p:cNvPr id="35" name="Text 33"/>
          <p:cNvSpPr/>
          <p:nvPr/>
        </p:nvSpPr>
        <p:spPr>
          <a:xfrm>
            <a:off x="9710738" y="3376613"/>
            <a:ext cx="1983581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Generate AL, lint, one mandatory compile.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710738" y="7450485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06 · 07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980069" y="4992067"/>
            <a:ext cx="285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265819" y="4915867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2503944" y="7907685"/>
            <a:ext cx="240268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503944" y="2076450"/>
            <a:ext cx="2402681" cy="1333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503944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887575" y="2076450"/>
            <a:ext cx="19050" cy="58502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751594" y="2419350"/>
            <a:ext cx="20981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751594" y="2762250"/>
            <a:ext cx="2098119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</a:t>
            </a:r>
            <a:endParaRPr lang="en-US" sz="3750" dirty="0"/>
          </a:p>
        </p:txBody>
      </p:sp>
      <p:sp>
        <p:nvSpPr>
          <p:cNvPr id="45" name="Text 43"/>
          <p:cNvSpPr/>
          <p:nvPr/>
        </p:nvSpPr>
        <p:spPr>
          <a:xfrm>
            <a:off x="12751594" y="3376613"/>
            <a:ext cx="1983581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Test, review, document, package.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2751594" y="7202835"/>
            <a:ext cx="19835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· 09 · 10 · 11 · 12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020925" y="4992067"/>
            <a:ext cx="285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306675" y="4915867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5544800" y="4270549"/>
            <a:ext cx="1925538" cy="1462088"/>
          </a:xfrm>
          <a:prstGeom prst="ellipse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773400" y="4537249"/>
            <a:ext cx="154453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Deployed, Documented App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4448473" y="8193435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24673" y="8317260"/>
            <a:ext cx="19050" cy="2476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21625" y="8193435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97825" y="8317260"/>
            <a:ext cx="19050" cy="2476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594777" y="8193435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670977" y="8317260"/>
            <a:ext cx="19050" cy="2476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3667854" y="8193435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744054" y="8317260"/>
            <a:ext cx="19050" cy="2476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38200" y="8564910"/>
            <a:ext cx="16611600" cy="1188690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162050" y="8983042"/>
            <a:ext cx="2113263" cy="3905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3426098" y="8930655"/>
            <a:ext cx="14213" cy="457200"/>
          </a:xfrm>
          <a:prstGeom prst="rect">
            <a:avLst/>
          </a:prstGeom>
          <a:solidFill>
            <a:srgbClr val="C9C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783211" y="8812560"/>
            <a:ext cx="1374302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71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Continuous discipline runs underneath every phase — documentation, change tracking, retained explanations, testing feedback, project memory, packaging, tooling.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4572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2 — STEP AND GATE FLOW, PART ONE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781050"/>
            <a:ext cx="182727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4500" b="1" kern="0" spc="-9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step, and the gate that closes it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150495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790700"/>
            <a:ext cx="7848600" cy="952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2000250"/>
            <a:ext cx="80840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38200" y="256222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7750" y="271462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PRE-01 · State the Problem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752975" y="315753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76775" y="33480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00189" y="3462338"/>
            <a:ext cx="4124548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6470" y="3576638"/>
            <a:ext cx="33719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Functional Consultant signs off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752975" y="3952875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6775" y="414337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200" y="425767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441007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PRE-02 · Structured Gap Analysis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752975" y="485298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6775" y="504348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7191" y="5157788"/>
            <a:ext cx="5890617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66982" y="5272088"/>
            <a:ext cx="51910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Technical Lead reviews; gaps closed or deferred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752975" y="5648325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76775" y="583882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8200" y="595312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7750" y="610552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Populate the Intake Sheet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752975" y="654843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76775" y="67389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32571" y="6853238"/>
            <a:ext cx="5059859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94823" y="6967538"/>
            <a:ext cx="43353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placeholders; human confirms sheet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3621137" y="9567863"/>
            <a:ext cx="23589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 to DESIGN, Step 02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144000" y="1790700"/>
            <a:ext cx="19050" cy="8039100"/>
          </a:xfrm>
          <a:prstGeom prst="rect">
            <a:avLst/>
          </a:prstGeom>
          <a:solidFill>
            <a:srgbClr val="C9C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20250" y="1790700"/>
            <a:ext cx="7829550" cy="952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20250" y="2000250"/>
            <a:ext cx="80644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9620250" y="2562225"/>
            <a:ext cx="782955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4625"/>
            <a:ext cx="76453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Craft the FRD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3525500" y="315753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449300" y="33480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975827" y="3462338"/>
            <a:ext cx="3118321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367202" y="3576638"/>
            <a:ext cx="23355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 Manager sign-off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3525500" y="3952875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3449300" y="414337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620250" y="4257675"/>
            <a:ext cx="782955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29800" y="4410075"/>
            <a:ext cx="76453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Craft the TDD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3525500" y="485298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449300" y="504348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702826" y="5157788"/>
            <a:ext cx="5664398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056010" y="5272088"/>
            <a:ext cx="49580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Technical Lead sign-off; self-sufficiency check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3525500" y="5648325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449300" y="583882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620250" y="5953125"/>
            <a:ext cx="782955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29800" y="6105525"/>
            <a:ext cx="76453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Sanity Check and Validation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3525500" y="6548438"/>
            <a:ext cx="19050" cy="1905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3449300" y="67389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192670" y="6853238"/>
            <a:ext cx="2684711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590549" y="6967538"/>
            <a:ext cx="188895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blocking issues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2506251" y="9567863"/>
            <a:ext cx="21337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 to BUILD, Step 05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4572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2 — STEP AND GATE FLOW, PART TWO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781050"/>
            <a:ext cx="182727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4500" b="1" kern="0" spc="-9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step, and the gate that closes it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150495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752600"/>
            <a:ext cx="7848600" cy="952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1962150"/>
            <a:ext cx="80840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38200" y="250507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7750" y="265747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Plan the Code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752975" y="3100388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76775" y="32718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0974" y="3386138"/>
            <a:ext cx="6082978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67879" y="3500438"/>
            <a:ext cx="53891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order agreed; scaffold structurally complete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752975" y="3876675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6775" y="404812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200" y="416242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431482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· Code Generation </a:t>
            </a:r>
            <a:r>
              <a:rPr lang="en-US" sz="21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per batch, no compile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752975" y="4757738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6775" y="492918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29159" y="5043488"/>
            <a:ext cx="7266682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58309" y="5157788"/>
            <a:ext cx="66083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batch pre-flight clean; permission-set coverage verified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752975" y="5534025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76775" y="5705475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8200" y="5819775"/>
            <a:ext cx="7848600" cy="595313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7750" y="5972175"/>
            <a:ext cx="7664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· Troubleshoot, Iterate </a:t>
            </a:r>
            <a:r>
              <a:rPr lang="en-US" sz="210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the one compile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752975" y="6415088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76775" y="6586538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65289" y="6700838"/>
            <a:ext cx="2994347" cy="4905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8524" y="6815138"/>
            <a:ext cx="22078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errors / 0 warnings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3668539" y="9567863"/>
            <a:ext cx="22641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 to PROVE, Step 08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144000" y="1752600"/>
            <a:ext cx="19050" cy="8077200"/>
          </a:xfrm>
          <a:prstGeom prst="rect">
            <a:avLst/>
          </a:prstGeom>
          <a:solidFill>
            <a:srgbClr val="C9C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20250" y="1752600"/>
            <a:ext cx="7829550" cy="952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20250" y="1962150"/>
            <a:ext cx="80644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9620250" y="2466975"/>
            <a:ext cx="7829550" cy="50482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581275"/>
            <a:ext cx="7645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· Gap-Fit Test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3525500" y="297180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458825" y="304800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946457" y="3152775"/>
            <a:ext cx="5177135" cy="4191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287900" y="3238500"/>
            <a:ext cx="44942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gap classified, resolved or scheduled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525500" y="3571875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3458825" y="3648075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620250" y="3752850"/>
            <a:ext cx="7829550" cy="50482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29800" y="3867150"/>
            <a:ext cx="7645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 · Package and Test the App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3525500" y="4257675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458825" y="4333875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127656" y="4438650"/>
            <a:ext cx="4814739" cy="4191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474535" y="4524375"/>
            <a:ext cx="4120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Publishes cleanly; green/red-team pass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3525500" y="485775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458825" y="493395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620250" y="5038725"/>
            <a:ext cx="7829550" cy="50482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29800" y="5153025"/>
            <a:ext cx="7645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 · Code Review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13525500" y="554355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3458825" y="561975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714360" y="5724525"/>
            <a:ext cx="5641256" cy="4191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1048841" y="5810250"/>
            <a:ext cx="4972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Critical findings resolved; dead-code scan clean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3525500" y="6143625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3458825" y="6219825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620250" y="6324600"/>
            <a:ext cx="7829550" cy="50482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829800" y="6438900"/>
            <a:ext cx="7645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 · Update Design Documents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13525500" y="6829425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3458825" y="6905625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951518" y="7010400"/>
            <a:ext cx="5166940" cy="4191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1293113" y="7096125"/>
            <a:ext cx="44837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As-built TDD complete; FRD reflects reality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3525500" y="742950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458825" y="750570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620250" y="7610475"/>
            <a:ext cx="7829550" cy="504825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829800" y="7724775"/>
            <a:ext cx="76453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· Document the Code</a:t>
            </a:r>
            <a:endParaRPr lang="en-US" sz="2025" dirty="0"/>
          </a:p>
        </p:txBody>
      </p:sp>
      <p:sp>
        <p:nvSpPr>
          <p:cNvPr id="67" name="Shape 65"/>
          <p:cNvSpPr/>
          <p:nvPr/>
        </p:nvSpPr>
        <p:spPr>
          <a:xfrm>
            <a:off x="13525500" y="811530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3458825" y="819150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1777439" y="8296275"/>
            <a:ext cx="3515097" cy="4191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2143813" y="8382000"/>
            <a:ext cx="2782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docs exist; ready for UAT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4572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3 — CROSS-CUTTING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781050"/>
            <a:ext cx="182727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4500" b="1" kern="0" spc="-9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&amp; Effort Assignment (§1.7)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150495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862584"/>
            <a:ext cx="3001268" cy="6524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7250" y="1881634"/>
            <a:ext cx="2963168" cy="61436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053084"/>
            <a:ext cx="20233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§1.7 configured?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953768" y="217929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63318" y="211261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1918" y="1714500"/>
            <a:ext cx="6252716" cy="94863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0518" y="1866900"/>
            <a:ext cx="5983097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(default) </a:t>
            </a: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everything runs through one model, as if §1.7 didn't exist.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758934" y="217929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68484" y="211261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97084" y="1714500"/>
            <a:ext cx="6252716" cy="94863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25684" y="1866900"/>
            <a:ext cx="5983097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 </a:t>
            </a: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 fixed three-role division, regardless of which physical models are assigned.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369123" y="2853630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2448" y="302508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34401" y="2853630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67726" y="302508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899752" y="2853630"/>
            <a:ext cx="19050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833077" y="302508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8200" y="9043988"/>
            <a:ext cx="53847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8200" y="3320355"/>
            <a:ext cx="5384750" cy="1333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8200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03900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85850" y="3644205"/>
            <a:ext cx="5378395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ROLE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085850" y="4153793"/>
            <a:ext cx="5036134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158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BUILD code generation. All actual code edits, including applying what Light and Reasoning report. End-to-end ownership of the ChangeLog, Object Register, ProjectMemory and TestingFeedback.md.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451550" y="9043988"/>
            <a:ext cx="5384825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51550" y="3320355"/>
            <a:ext cx="5384825" cy="1333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51550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817325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99200" y="3644205"/>
            <a:ext cx="5378477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ROLE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6699200" y="4153793"/>
            <a:ext cx="5036211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158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Step 05 post-generation pre-flight pass only — required props, Rec.-qualification, dead code, indentation, permission-set coverage, symbol verification.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6699200" y="8591550"/>
            <a:ext cx="537847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Reports findings. Never edits code.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2064975" y="9043988"/>
            <a:ext cx="5384825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064975" y="3320355"/>
            <a:ext cx="5384825" cy="1333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064975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7430750" y="3320355"/>
            <a:ext cx="19050" cy="574268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312625" y="3644205"/>
            <a:ext cx="5378477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12312625" y="4153793"/>
            <a:ext cx="5036211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158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Sanity Check (04), Gap-Fit Test (08), Code Review (10), FRD (02) and TDD (03) authorship, root-cause troubleshooting (07), diagnosing testing-feedback reports.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312625" y="8329613"/>
            <a:ext cx="503621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Reports drafts and diagnoses. Never edits code or continuity docs.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838200" y="9410700"/>
            <a:ext cx="48672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and Reasoning relay findings to Main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5415335" y="9465469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529635" y="9532144"/>
            <a:ext cx="669042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2220054" y="9465469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2486754" y="9253538"/>
            <a:ext cx="4963046" cy="576263"/>
          </a:xfrm>
          <a:prstGeom prst="roundRect">
            <a:avLst>
              <a:gd name="adj" fmla="val 50000"/>
            </a:avLst>
          </a:prstGeom>
          <a:solidFill>
            <a:srgbClr val="EAE9E9"/>
          </a:solidFill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791554" y="9405937"/>
            <a:ext cx="45023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codebase &amp; continuity documents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6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676650"/>
            <a:ext cx="178117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0" b="1" kern="0" spc="-57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047750" y="5686425"/>
            <a:ext cx="161925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6086475"/>
            <a:ext cx="136207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89"/>
              </a:lnSpc>
              <a:buNone/>
            </a:pPr>
            <a:r>
              <a:rPr lang="en-US" sz="33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the problem and fill in the parameters. Ask, don't infer.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9082088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PRE-01 State the Problem · PRE-02 Structured Gap Analysis · 01 Populate the Intake Sheet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8575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01 — DEFINE · SCHEMATIC 4.1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18272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0" spc="-69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From stakeholder conversation to confirmed parameters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38200" y="11430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295400"/>
            <a:ext cx="7153275" cy="528638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4900" y="1428750"/>
            <a:ext cx="6834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Stakeholder conversation — business need in plain language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7991475" y="1550194"/>
            <a:ext cx="2476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39125" y="1483519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8200" y="1919288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PRE-01 · STATE THE PROBLEM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34411" y="2286000"/>
            <a:ext cx="4271925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4411" y="3443887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4411" y="2286000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4411" y="228600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87286" y="228600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5181" y="240982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1095181" y="2695575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Stakeholder notes</a:t>
            </a:r>
            <a:endParaRPr lang="en-US" sz="2011" dirty="0"/>
          </a:p>
        </p:txBody>
      </p:sp>
      <p:sp>
        <p:nvSpPr>
          <p:cNvPr id="17" name="Shape 15"/>
          <p:cNvSpPr/>
          <p:nvPr/>
        </p:nvSpPr>
        <p:spPr>
          <a:xfrm>
            <a:off x="5035897" y="286509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45447" y="279841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93097" y="2286000"/>
            <a:ext cx="7301805" cy="117723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21697" y="2409825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21697" y="2695575"/>
            <a:ext cx="704994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 the problem statement, capture vocabulary, draft the initial entity list, flag ambiguities.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928253" y="286509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137803" y="279841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281664" y="2286000"/>
            <a:ext cx="4271925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281664" y="3443887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281664" y="2286000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281664" y="228600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534539" y="228600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642434" y="240982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30" name="Text 28"/>
          <p:cNvSpPr/>
          <p:nvPr/>
        </p:nvSpPr>
        <p:spPr>
          <a:xfrm>
            <a:off x="13642434" y="2695575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ProblemStatement.md</a:t>
            </a:r>
            <a:endParaRPr lang="en-US" sz="2011" dirty="0"/>
          </a:p>
        </p:txBody>
      </p:sp>
      <p:sp>
        <p:nvSpPr>
          <p:cNvPr id="31" name="Shape 29"/>
          <p:cNvSpPr/>
          <p:nvPr/>
        </p:nvSpPr>
        <p:spPr>
          <a:xfrm>
            <a:off x="9134475" y="355848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67800" y="363468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21983" y="3834705"/>
            <a:ext cx="5843960" cy="47148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98233" y="3939480"/>
            <a:ext cx="5066778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Functional Consultant signs off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134475" y="4401443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067800" y="4477643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8200" y="4677668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PRE-02 · STRUCTURED GAP ANALYSIS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734411" y="5044380"/>
            <a:ext cx="4271925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4411" y="6202267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4411" y="5044380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4411" y="504438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87286" y="504438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6800" y="516820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44" name="Text 42"/>
          <p:cNvSpPr/>
          <p:nvPr/>
        </p:nvSpPr>
        <p:spPr>
          <a:xfrm>
            <a:off x="1066800" y="5453955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ProblemStatement.md, initial entity list</a:t>
            </a:r>
            <a:endParaRPr lang="en-US" sz="2011" dirty="0"/>
          </a:p>
        </p:txBody>
      </p:sp>
      <p:sp>
        <p:nvSpPr>
          <p:cNvPr id="45" name="Shape 43"/>
          <p:cNvSpPr/>
          <p:nvPr/>
        </p:nvSpPr>
        <p:spPr>
          <a:xfrm>
            <a:off x="5035897" y="562347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245447" y="555679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93097" y="5044380"/>
            <a:ext cx="7301805" cy="117723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21697" y="5168205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721697" y="5453955"/>
            <a:ext cx="704994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 the gap checklist — analytical, posted, lookup, secondary docs, legacy vs. modern, tax, global/local.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928253" y="562347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3137803" y="555679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3281664" y="5044380"/>
            <a:ext cx="4271925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3281664" y="6202267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281664" y="5044380"/>
            <a:ext cx="4271925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3281664" y="504438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7534539" y="504438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3642434" y="516820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58" name="Text 56"/>
          <p:cNvSpPr/>
          <p:nvPr/>
        </p:nvSpPr>
        <p:spPr>
          <a:xfrm>
            <a:off x="13642434" y="5453955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Expanded entity list + gap log</a:t>
            </a:r>
            <a:endParaRPr lang="en-US" sz="2011" dirty="0"/>
          </a:p>
        </p:txBody>
      </p:sp>
      <p:sp>
        <p:nvSpPr>
          <p:cNvPr id="59" name="Shape 57"/>
          <p:cNvSpPr/>
          <p:nvPr/>
        </p:nvSpPr>
        <p:spPr>
          <a:xfrm>
            <a:off x="9134475" y="6316861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067800" y="6393061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338986" y="6593086"/>
            <a:ext cx="7610029" cy="47148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15236" y="6697861"/>
            <a:ext cx="6885829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Technical Lead reviews; gaps closed or deferred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9134475" y="7159823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067800" y="7236023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8200" y="7436048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POPULATE THE INTAKE SHEET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706030" y="7802761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06030" y="928256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06030" y="7802761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6030" y="7802761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015667" y="7802761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23562" y="7926586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72" name="Text 70"/>
          <p:cNvSpPr/>
          <p:nvPr/>
        </p:nvSpPr>
        <p:spPr>
          <a:xfrm>
            <a:off x="1123562" y="8212336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Expanded entity list, symbol file</a:t>
            </a:r>
            <a:endParaRPr lang="en-US" sz="2011" dirty="0"/>
          </a:p>
        </p:txBody>
      </p:sp>
      <p:sp>
        <p:nvSpPr>
          <p:cNvPr id="73" name="Shape 71"/>
          <p:cNvSpPr/>
          <p:nvPr/>
        </p:nvSpPr>
        <p:spPr>
          <a:xfrm>
            <a:off x="5035897" y="8542809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245447" y="8476134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493097" y="7802761"/>
            <a:ext cx="7301805" cy="1499146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721697" y="7926586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721697" y="8212336"/>
            <a:ext cx="7049944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§1.1 Identity · §1.2 ID ranges · §1.3 Naming/API · §1.4 Platform · §1.6 Onboarding &amp; Discoverability · §1.7 Model &amp; Effort Assignment — ask, don't infer.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12928253" y="8542809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3137803" y="8476134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3253283" y="7802761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3253283" y="928256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3253283" y="7802761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3253283" y="7802761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7562920" y="7802761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3642434" y="7926586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86" name="Text 84"/>
          <p:cNvSpPr/>
          <p:nvPr/>
        </p:nvSpPr>
        <p:spPr>
          <a:xfrm>
            <a:off x="13642434" y="8212336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Project Parameters, Object Register (seeded)</a:t>
            </a:r>
            <a:endParaRPr lang="en-US" sz="2011" dirty="0"/>
          </a:p>
        </p:txBody>
      </p:sp>
      <p:sp>
        <p:nvSpPr>
          <p:cNvPr id="87" name="Shape 85"/>
          <p:cNvSpPr/>
          <p:nvPr/>
        </p:nvSpPr>
        <p:spPr>
          <a:xfrm>
            <a:off x="9134475" y="9397157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067800" y="9473357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396779" y="9692432"/>
            <a:ext cx="8081516" cy="47148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873029" y="9797207"/>
            <a:ext cx="7371461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no placeholders remain; a human confirms the sheet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11687845" y="991865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1897395" y="985197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2221245" y="9673382"/>
            <a:ext cx="2669902" cy="509587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2487945" y="9797207"/>
            <a:ext cx="22165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 DESIGN, Step 02</a:t>
            </a:r>
            <a:endParaRPr lang="en-US" sz="1875" dirty="0"/>
          </a:p>
        </p:txBody>
      </p:sp>
      <p:sp>
        <p:nvSpPr>
          <p:cNvPr id="95" name="Text 93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7C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753246"/>
            <a:ext cx="178117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0" b="1" kern="0" spc="-57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047750" y="4763021"/>
            <a:ext cx="161925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5163071"/>
            <a:ext cx="1275397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789"/>
              </a:lnSpc>
              <a:buNone/>
            </a:pPr>
            <a:r>
              <a:rPr lang="en-US" sz="33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FRD in business language, and a TDD complete enough to build from alone.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7759154"/>
            <a:ext cx="16192500" cy="1037183"/>
          </a:xfrm>
          <a:prstGeom prst="rect">
            <a:avLst/>
          </a:prstGeom>
          <a:ln w="19050">
            <a:solidFill>
              <a:srgbClr val="F3F2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5400" y="7930604"/>
            <a:ext cx="1618297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690"/>
              </a:lnSpc>
              <a:buNone/>
            </a:pPr>
            <a:r>
              <a:rPr lang="en-US" sz="2025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Main role integrates every draft — saves the file, keeps ChangeLog and ProjectMemory bookkeeping — and carries it to the human for sign-off. The Reasoning role never owns sign-off.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47750" y="9082088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Craft the FRD · 03 Craft the TDD · 04 Sanity Check and Validation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8575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02 — DESIGN · SCHEMATIC 4.2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18272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0" spc="-69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 what, then how — and check they agree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38200" y="11430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66825"/>
            <a:ext cx="314259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CRAFT THE FRD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847505" y="1257300"/>
            <a:ext cx="2483346" cy="3048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61805" y="1285875"/>
            <a:ext cx="2503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6030" y="1657350"/>
            <a:ext cx="4308074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6030" y="3137152"/>
            <a:ext cx="4308074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6030" y="1657350"/>
            <a:ext cx="4308074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6030" y="165735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95054" y="165735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6800" y="17811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066800" y="2066925"/>
            <a:ext cx="3694131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ProblemStatement.md, expanded entity list, Project Parameters</a:t>
            </a:r>
            <a:endParaRPr lang="en-US" sz="2011" dirty="0"/>
          </a:p>
        </p:txBody>
      </p:sp>
      <p:sp>
        <p:nvSpPr>
          <p:cNvPr id="15" name="Shape 13"/>
          <p:cNvSpPr/>
          <p:nvPr/>
        </p:nvSpPr>
        <p:spPr>
          <a:xfrm>
            <a:off x="5015285" y="2397398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24835" y="2330723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72485" y="3137446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72485" y="1657350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2485" y="1657350"/>
            <a:ext cx="95250" cy="1499146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796465" y="165735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77285" y="1781175"/>
            <a:ext cx="7490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77285" y="2066925"/>
            <a:ext cx="701392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 in business language — what and why, not how. Validate against DEFINE.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948865" y="2397398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58415" y="2330723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273896" y="1657350"/>
            <a:ext cx="4308074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273896" y="3137152"/>
            <a:ext cx="4308074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273896" y="1657350"/>
            <a:ext cx="4308074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273896" y="165735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562920" y="165735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691428" y="17811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31" name="Text 29"/>
          <p:cNvSpPr/>
          <p:nvPr/>
        </p:nvSpPr>
        <p:spPr>
          <a:xfrm>
            <a:off x="13691428" y="2066925"/>
            <a:ext cx="39451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FRD.md</a:t>
            </a:r>
            <a:endParaRPr lang="en-US" sz="2011" dirty="0"/>
          </a:p>
        </p:txBody>
      </p:sp>
      <p:sp>
        <p:nvSpPr>
          <p:cNvPr id="32" name="Shape 30"/>
          <p:cNvSpPr/>
          <p:nvPr/>
        </p:nvSpPr>
        <p:spPr>
          <a:xfrm>
            <a:off x="9134475" y="3251746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67800" y="3327946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14057" y="3527971"/>
            <a:ext cx="7659886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90307" y="3623221"/>
            <a:ext cx="6937183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Dev Manager sign-off; every entity accounted for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134475" y="4075658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067800" y="4151858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8200" y="4361408"/>
            <a:ext cx="31483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CRAFT THE TDD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3852714" y="4351883"/>
            <a:ext cx="2483346" cy="3048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67014" y="4380458"/>
            <a:ext cx="2503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34411" y="4751933"/>
            <a:ext cx="4251312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4411" y="5909820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4411" y="4751933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4411" y="4751933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66674" y="4751933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6800" y="4875758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47" name="Text 45"/>
          <p:cNvSpPr/>
          <p:nvPr/>
        </p:nvSpPr>
        <p:spPr>
          <a:xfrm>
            <a:off x="1066800" y="5161508"/>
            <a:ext cx="369413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FRD.md, Project Parameters, symbol file</a:t>
            </a:r>
            <a:endParaRPr lang="en-US" sz="2011" dirty="0"/>
          </a:p>
        </p:txBody>
      </p:sp>
      <p:sp>
        <p:nvSpPr>
          <p:cNvPr id="48" name="Shape 46"/>
          <p:cNvSpPr/>
          <p:nvPr/>
        </p:nvSpPr>
        <p:spPr>
          <a:xfrm>
            <a:off x="5015285" y="5331023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24835" y="5264348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72485" y="5910114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472485" y="4751933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72485" y="4751933"/>
            <a:ext cx="95250" cy="117723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796465" y="4751933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77285" y="4875758"/>
            <a:ext cx="7490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777285" y="5161508"/>
            <a:ext cx="701392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System identity, module grouping, batch plan, per-object and per-field spec, permission sets — it must be self-sufficient.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2948865" y="5331023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3158415" y="5264348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302276" y="4751933"/>
            <a:ext cx="4251313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3302276" y="5909820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3302276" y="4751933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3302276" y="4751933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7534539" y="4751933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3634665" y="4875758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64" name="Text 62"/>
          <p:cNvSpPr/>
          <p:nvPr/>
        </p:nvSpPr>
        <p:spPr>
          <a:xfrm>
            <a:off x="13634665" y="5161508"/>
            <a:ext cx="369413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TDD.md, Object Register updated</a:t>
            </a:r>
            <a:endParaRPr lang="en-US" sz="2011" dirty="0"/>
          </a:p>
        </p:txBody>
      </p:sp>
      <p:sp>
        <p:nvSpPr>
          <p:cNvPr id="65" name="Shape 63"/>
          <p:cNvSpPr/>
          <p:nvPr/>
        </p:nvSpPr>
        <p:spPr>
          <a:xfrm>
            <a:off x="9134475" y="6024414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67800" y="6100614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452095" y="6300639"/>
            <a:ext cx="7383735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928345" y="6395889"/>
            <a:ext cx="6652747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Technical Lead sign-off; self-sufficiency check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9134475" y="6848326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067800" y="6924526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38200" y="7134076"/>
            <a:ext cx="56962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SANITY CHECK AND VALIDATION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6169000" y="7124551"/>
            <a:ext cx="2483346" cy="3048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283300" y="7153126"/>
            <a:ext cx="2503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734411" y="7524601"/>
            <a:ext cx="4251312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34411" y="8682488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34411" y="7524601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34411" y="7524601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966674" y="7524601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095181" y="7648426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80" name="Text 78"/>
          <p:cNvSpPr/>
          <p:nvPr/>
        </p:nvSpPr>
        <p:spPr>
          <a:xfrm>
            <a:off x="1095181" y="7934176"/>
            <a:ext cx="39451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FRD.md, TDD.md, symbol file</a:t>
            </a:r>
            <a:endParaRPr lang="en-US" sz="2011" dirty="0"/>
          </a:p>
        </p:txBody>
      </p:sp>
      <p:sp>
        <p:nvSpPr>
          <p:cNvPr id="81" name="Shape 79"/>
          <p:cNvSpPr/>
          <p:nvPr/>
        </p:nvSpPr>
        <p:spPr>
          <a:xfrm>
            <a:off x="5015285" y="810369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224835" y="803701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472485" y="8682782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5472485" y="7524601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472485" y="7524601"/>
            <a:ext cx="95250" cy="117723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2796465" y="7524601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777285" y="7648426"/>
            <a:ext cx="7490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5777285" y="7934176"/>
            <a:ext cx="701392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Formal review — can BC actually do this? Does the TDD implement the FRD? Work the checklist.</a:t>
            </a:r>
            <a:endParaRPr lang="en-US" sz="1950" dirty="0"/>
          </a:p>
        </p:txBody>
      </p:sp>
      <p:sp>
        <p:nvSpPr>
          <p:cNvPr id="89" name="Shape 87"/>
          <p:cNvSpPr/>
          <p:nvPr/>
        </p:nvSpPr>
        <p:spPr>
          <a:xfrm>
            <a:off x="12948865" y="810369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3158415" y="803701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3302276" y="7524601"/>
            <a:ext cx="4251313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3302276" y="8682488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3302276" y="7524601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3302276" y="7524601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7534539" y="7524601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3663046" y="7648426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97" name="Text 95"/>
          <p:cNvSpPr/>
          <p:nvPr/>
        </p:nvSpPr>
        <p:spPr>
          <a:xfrm>
            <a:off x="13663046" y="7934176"/>
            <a:ext cx="39451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SanityCheck.md</a:t>
            </a:r>
            <a:endParaRPr lang="en-US" sz="2011" dirty="0"/>
          </a:p>
        </p:txBody>
      </p:sp>
      <p:sp>
        <p:nvSpPr>
          <p:cNvPr id="98" name="Shape 96"/>
          <p:cNvSpPr/>
          <p:nvPr/>
        </p:nvSpPr>
        <p:spPr>
          <a:xfrm>
            <a:off x="9134475" y="8797082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067800" y="8873282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361236" y="9092357"/>
            <a:ext cx="4404122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837486" y="9187607"/>
            <a:ext cx="3583746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0 blocking issues</a:t>
            </a:r>
            <a:endParaRPr lang="en-US" sz="1875" dirty="0"/>
          </a:p>
        </p:txBody>
      </p:sp>
      <p:sp>
        <p:nvSpPr>
          <p:cNvPr id="102" name="Shape 100"/>
          <p:cNvSpPr/>
          <p:nvPr/>
        </p:nvSpPr>
        <p:spPr>
          <a:xfrm>
            <a:off x="9955857" y="930905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165407" y="924237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0470207" y="9073307"/>
            <a:ext cx="2456557" cy="490538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0736907" y="9187607"/>
            <a:ext cx="19993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 BUILD, Step 05</a:t>
            </a:r>
            <a:endParaRPr lang="en-US" sz="1875" dirty="0"/>
          </a:p>
        </p:txBody>
      </p:sp>
      <p:sp>
        <p:nvSpPr>
          <p:cNvPr id="106" name="Text 104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4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414713"/>
            <a:ext cx="178117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0" b="1" kern="0" spc="-57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047750" y="5424488"/>
            <a:ext cx="161925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5824538"/>
            <a:ext cx="137350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789"/>
              </a:lnSpc>
              <a:buNone/>
            </a:pPr>
            <a:r>
              <a:rPr lang="en-US" sz="33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per-batch compile. Symbol-verified lint instead, and exactly one mandatory compile once every planned batch exists.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9082088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Plan the Code · 06 Code Generation · 07 Troubleshoot, Iterate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8575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03 — BUILD · SCHEMATIC 4.3, STEPS 05–06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18272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0" spc="-69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 the batches, then generate them — without compiling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38200" y="11430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76350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PLAN THE CODE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06030" y="1662113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6030" y="3141914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6030" y="166211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6030" y="166211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15667" y="166211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3562" y="1785938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12" name="Text 10"/>
          <p:cNvSpPr/>
          <p:nvPr/>
        </p:nvSpPr>
        <p:spPr>
          <a:xfrm>
            <a:off x="1123562" y="2071688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TDD.md, Object Register</a:t>
            </a:r>
            <a:endParaRPr lang="en-US" sz="2011" dirty="0"/>
          </a:p>
        </p:txBody>
      </p:sp>
      <p:sp>
        <p:nvSpPr>
          <p:cNvPr id="13" name="Shape 11"/>
          <p:cNvSpPr/>
          <p:nvPr/>
        </p:nvSpPr>
        <p:spPr>
          <a:xfrm>
            <a:off x="5035897" y="240216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45447" y="233548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93097" y="1662113"/>
            <a:ext cx="7301805" cy="1499146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21697" y="1785938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21697" y="2071688"/>
            <a:ext cx="7049944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 batch order, prepare the scaffold, bootstrap the AL MCP Server and BCQuality snapshot, write the pre-flight checks.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928253" y="240216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137803" y="233548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253283" y="1662113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253283" y="3141914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253283" y="166211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253283" y="166211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562920" y="166211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42434" y="1785938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26" name="Text 24"/>
          <p:cNvSpPr/>
          <p:nvPr/>
        </p:nvSpPr>
        <p:spPr>
          <a:xfrm>
            <a:off x="13642434" y="2071688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plan, scaffold, pre-flight checklist</a:t>
            </a:r>
            <a:endParaRPr lang="en-US" sz="2011" dirty="0"/>
          </a:p>
        </p:txBody>
      </p:sp>
      <p:sp>
        <p:nvSpPr>
          <p:cNvPr id="27" name="Shape 25"/>
          <p:cNvSpPr/>
          <p:nvPr/>
        </p:nvSpPr>
        <p:spPr>
          <a:xfrm>
            <a:off x="9134475" y="3275558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67800" y="3351758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28022" y="3570833"/>
            <a:ext cx="8031956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04272" y="3666083"/>
            <a:ext cx="7320415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batch order agreed; scaffold complete, not compiled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134475" y="4137571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67800" y="4213771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8200" y="4432846"/>
            <a:ext cx="37084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· CODE GENERATION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361929" y="4442371"/>
            <a:ext cx="26395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repeats once per batch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838200" y="7228284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8200" y="4818608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8200" y="4818608"/>
            <a:ext cx="95250" cy="2428726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86288" y="4818608"/>
            <a:ext cx="19050" cy="242872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23950" y="4961483"/>
            <a:ext cx="35990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23950" y="5247233"/>
            <a:ext cx="3369993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Pause for human approval, then generate the batch's AL files from the standard template.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4719638" y="6023446"/>
            <a:ext cx="1714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91088" y="5956771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19688" y="7228284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119688" y="4818608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19688" y="4818608"/>
            <a:ext cx="95250" cy="2428726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867775" y="4818608"/>
            <a:ext cx="19050" cy="242872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05438" y="4961483"/>
            <a:ext cx="336999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· PRE-GEN PRE-FLIGHT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05438" y="5494883"/>
            <a:ext cx="3369993" cy="1647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Identifier length, reserved keywords, localization, ObsoleteState — on planned names. Fix the TDD if needed.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001125" y="6023446"/>
            <a:ext cx="1714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172575" y="5956771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401175" y="7228284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401175" y="4818608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401175" y="4818608"/>
            <a:ext cx="95250" cy="2428726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149263" y="4818608"/>
            <a:ext cx="19050" cy="242872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686925" y="4961483"/>
            <a:ext cx="336999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· POST-GEN PRE-FLIGHT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686925" y="5494883"/>
            <a:ext cx="3369993" cy="1647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Required props, Rec.-qualification, dead code, indentation, coverage, symbol verification. Reports; Main fixes.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13282613" y="6023446"/>
            <a:ext cx="1714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454063" y="5956771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3682663" y="7228284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3682663" y="4818608"/>
            <a:ext cx="376713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3682663" y="4818608"/>
            <a:ext cx="95250" cy="2428726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7430750" y="4818608"/>
            <a:ext cx="19050" cy="242872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3968413" y="4961483"/>
            <a:ext cx="35990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7C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LIGHT · COVERAGE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3968413" y="5247233"/>
            <a:ext cx="3369993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Verify permission-set coverage across all batches so far — design-time, independent of compiling.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52500" y="7342584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19175" y="7447359"/>
            <a:ext cx="19050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219200" y="7928372"/>
            <a:ext cx="13262818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371600" y="7452122"/>
            <a:ext cx="135083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 — return to the top of the loop for the next batch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14634418" y="7342584"/>
            <a:ext cx="2815382" cy="6048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4653468" y="7361634"/>
            <a:ext cx="2777282" cy="566738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5224968" y="7514034"/>
            <a:ext cx="17176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More batches?</a:t>
            </a:r>
            <a:endParaRPr lang="en-US" sz="1875" dirty="0"/>
          </a:p>
        </p:txBody>
      </p:sp>
      <p:sp>
        <p:nvSpPr>
          <p:cNvPr id="72" name="Text 70"/>
          <p:cNvSpPr/>
          <p:nvPr/>
        </p:nvSpPr>
        <p:spPr>
          <a:xfrm>
            <a:off x="7198444" y="8061722"/>
            <a:ext cx="42801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— every planned batch generated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9134475" y="8342709"/>
            <a:ext cx="19050" cy="952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067800" y="8437959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77804" y="8657034"/>
            <a:ext cx="9132317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054054" y="8752284"/>
            <a:ext cx="8453787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every batch pre-flight clean; coverage verified; no compile here</a:t>
            </a:r>
            <a:endParaRPr lang="en-US" sz="1875" dirty="0"/>
          </a:p>
        </p:txBody>
      </p:sp>
      <p:sp>
        <p:nvSpPr>
          <p:cNvPr id="77" name="Text 7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4572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03 — BUILD · SCHEMATIC 4.3, STEP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781050"/>
            <a:ext cx="182727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63"/>
              </a:lnSpc>
              <a:buNone/>
            </a:pPr>
            <a:r>
              <a:rPr lang="en-US" sz="4350" b="1" kern="0" spc="-87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Troubleshoot, iterate — the one mandatory compile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838200" y="14859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4950" y="3048000"/>
            <a:ext cx="6918424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4950" y="1752600"/>
            <a:ext cx="6918424" cy="1333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4950" y="1752600"/>
            <a:ext cx="19050" cy="1314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04324" y="1752600"/>
            <a:ext cx="19050" cy="1314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71650" y="2095500"/>
            <a:ext cx="65925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FIRST: compile the whole extension once — the one mandatory compile (Operating Rule 4).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954637" y="3067050"/>
            <a:ext cx="19050" cy="2476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78437" y="331470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69803" y="3429000"/>
            <a:ext cx="3788718" cy="82391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88853" y="3448050"/>
            <a:ext cx="3750618" cy="78581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5603" y="3695700"/>
            <a:ext cx="25296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Errors or warnings?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04950" y="4329113"/>
            <a:ext cx="5559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↓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954637" y="4629150"/>
            <a:ext cx="19050" cy="2095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78437" y="483870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38835" y="4953000"/>
            <a:ext cx="2850579" cy="1309688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04001" y="5200650"/>
            <a:ext cx="19202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2035"/>
              </a:lnSpc>
              <a:buNone/>
            </a:pPr>
            <a:r>
              <a:rPr lang="en-US" sz="39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/ 0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4004001" y="5753100"/>
            <a:ext cx="19202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errors / warnings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683228" y="4819650"/>
            <a:ext cx="4613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8651974" y="5214938"/>
            <a:ext cx="3238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75824" y="5138738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8249" y="3177480"/>
            <a:ext cx="812155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28249" y="1752600"/>
            <a:ext cx="812155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28249" y="1752600"/>
            <a:ext cx="114300" cy="144393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430750" y="1752600"/>
            <a:ext cx="19050" cy="14439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0199" y="1962150"/>
            <a:ext cx="82421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B4FC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0199" y="2266950"/>
            <a:ext cx="771768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3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Diagnose: one-off or pattern? Where did it come from? What rule missed it?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379500" y="3196530"/>
            <a:ext cx="19050" cy="2286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303300" y="3425130"/>
            <a:ext cx="171450" cy="1143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8249" y="4964311"/>
            <a:ext cx="812155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328249" y="3539430"/>
            <a:ext cx="812155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328249" y="3539430"/>
            <a:ext cx="114300" cy="144393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430750" y="3539430"/>
            <a:ext cx="19050" cy="14439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90199" y="3748980"/>
            <a:ext cx="82421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F6CB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90199" y="4053780"/>
            <a:ext cx="771768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34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Fix the root cause, regenerate files, re-compile, log the ChangeLog and update the TDD.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7202150" y="4983361"/>
            <a:ext cx="19050" cy="3393877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66800" y="8358188"/>
            <a:ext cx="161544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66800" y="2381250"/>
            <a:ext cx="19050" cy="599598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66800" y="2371725"/>
            <a:ext cx="3238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90650" y="2305050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171700" y="8248650"/>
            <a:ext cx="4038823" cy="261937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305050" y="8248650"/>
            <a:ext cx="417600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back to compile — repeat until clean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4391769" y="9329738"/>
            <a:ext cx="9504387" cy="5000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06119" y="9444038"/>
            <a:ext cx="8760819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950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full extension compiles clean; ChangeLog and TDD reconciled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10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676650"/>
            <a:ext cx="178117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609"/>
              </a:lnSpc>
              <a:buNone/>
            </a:pPr>
            <a:r>
              <a:rPr lang="en-US" sz="14250" b="1" kern="0" spc="-57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</a:t>
            </a:r>
            <a:endParaRPr lang="en-US" sz="14250" dirty="0"/>
          </a:p>
        </p:txBody>
      </p:sp>
      <p:sp>
        <p:nvSpPr>
          <p:cNvPr id="4" name="Shape 2"/>
          <p:cNvSpPr/>
          <p:nvPr/>
        </p:nvSpPr>
        <p:spPr>
          <a:xfrm>
            <a:off x="1047750" y="5686425"/>
            <a:ext cx="161925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6086475"/>
            <a:ext cx="136207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89"/>
              </a:lnSpc>
              <a:buNone/>
            </a:pPr>
            <a:r>
              <a:rPr lang="en-US" sz="33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Test, review, document, package — until it is ready for UAT.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9082088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Gap-Fit Test · 09 Package and Test · 10 Code Review · 11 Update Design Documents · 12 Document the Code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8575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04 — PROVE · SCHEMATIC 4.4, STEPS 08–09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18272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0" spc="-69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Does the built thing match what was promised?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38200" y="11430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85875"/>
            <a:ext cx="638677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· GAP-FIT TEST, FIDELITY VALIDATION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796757" y="1276350"/>
            <a:ext cx="2483346" cy="3048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11057" y="1304925"/>
            <a:ext cx="2503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4411" y="1695450"/>
            <a:ext cx="4251312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4411" y="2853337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4411" y="1695450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4411" y="16954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66674" y="16954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6800" y="18192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066800" y="2105025"/>
            <a:ext cx="369413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FRD.md, TDD.md, built AL, ChangeLog</a:t>
            </a:r>
            <a:endParaRPr lang="en-US" sz="2011" dirty="0"/>
          </a:p>
        </p:txBody>
      </p:sp>
      <p:sp>
        <p:nvSpPr>
          <p:cNvPr id="15" name="Shape 13"/>
          <p:cNvSpPr/>
          <p:nvPr/>
        </p:nvSpPr>
        <p:spPr>
          <a:xfrm>
            <a:off x="5015285" y="227454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24835" y="220786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72485" y="2853630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72485" y="1695450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2485" y="1695450"/>
            <a:ext cx="95250" cy="117723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796465" y="16954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77285" y="1819275"/>
            <a:ext cx="7490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77285" y="2105025"/>
            <a:ext cx="701392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Three-way comparison — FRD vs. TDD vs. as-built. Classify every gap.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948865" y="227454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58415" y="220786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302276" y="1695450"/>
            <a:ext cx="4251313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302276" y="2853337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302276" y="1695450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302276" y="16954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534539" y="16954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634665" y="18192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31" name="Text 29"/>
          <p:cNvSpPr/>
          <p:nvPr/>
        </p:nvSpPr>
        <p:spPr>
          <a:xfrm>
            <a:off x="13634665" y="2105025"/>
            <a:ext cx="369413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GapAnalysis.md, gap-fill work items</a:t>
            </a:r>
            <a:endParaRPr lang="en-US" sz="2011" dirty="0"/>
          </a:p>
        </p:txBody>
      </p:sp>
      <p:sp>
        <p:nvSpPr>
          <p:cNvPr id="32" name="Shape 30"/>
          <p:cNvSpPr/>
          <p:nvPr/>
        </p:nvSpPr>
        <p:spPr>
          <a:xfrm>
            <a:off x="9134475" y="298698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67800" y="306318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01593" y="3282255"/>
            <a:ext cx="7084740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77843" y="3377505"/>
            <a:ext cx="6344782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every gap classified, resolved or scheduled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134475" y="3848993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067800" y="3925193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41512" y="4144268"/>
            <a:ext cx="6362700" cy="1195388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0112" y="4277618"/>
            <a:ext cx="6096381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 — each item takes its own pass through the Step 05/06/07 discipline: pre-flight, then compile (Operating Rule 4).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504212" y="4732437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13762" y="4665762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28062" y="4401443"/>
            <a:ext cx="2631802" cy="6810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847112" y="4420493"/>
            <a:ext cx="2593702" cy="642938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380512" y="4610993"/>
            <a:ext cx="16047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Gap-fill work?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0459864" y="4732437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669414" y="4665762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917064" y="4610993"/>
            <a:ext cx="28321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14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— straight to Step 09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9134475" y="5453955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067800" y="5530155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38200" y="5749230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 · PACKAGE AND TEST THE APP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706030" y="6134993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030" y="7614795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6030" y="613499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6030" y="613499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15667" y="613499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95181" y="6258818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57" name="Text 55"/>
          <p:cNvSpPr/>
          <p:nvPr/>
        </p:nvSpPr>
        <p:spPr>
          <a:xfrm>
            <a:off x="1095181" y="6544568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Clean-compiling extension, permission sets if any tables</a:t>
            </a:r>
            <a:endParaRPr lang="en-US" sz="2011" dirty="0"/>
          </a:p>
        </p:txBody>
      </p:sp>
      <p:sp>
        <p:nvSpPr>
          <p:cNvPr id="58" name="Shape 56"/>
          <p:cNvSpPr/>
          <p:nvPr/>
        </p:nvSpPr>
        <p:spPr>
          <a:xfrm>
            <a:off x="5035897" y="687504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245447" y="680836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493097" y="6134993"/>
            <a:ext cx="7301805" cy="1499146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21697" y="6258818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721697" y="6544568"/>
            <a:ext cx="7049944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 the .app (name and version from app.json), publish to sandbox, run green-team and red-team tests, verify permission sets.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12928253" y="687504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137803" y="680836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253283" y="6134993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3253283" y="7614795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3253283" y="6134993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3253283" y="613499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7562920" y="6134993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3670816" y="6258818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71" name="Text 69"/>
          <p:cNvSpPr/>
          <p:nvPr/>
        </p:nvSpPr>
        <p:spPr>
          <a:xfrm>
            <a:off x="13670816" y="6544568"/>
            <a:ext cx="396786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.app package, test-run record</a:t>
            </a:r>
            <a:endParaRPr lang="en-US" sz="2011" dirty="0"/>
          </a:p>
        </p:txBody>
      </p:sp>
      <p:sp>
        <p:nvSpPr>
          <p:cNvPr id="72" name="Shape 70"/>
          <p:cNvSpPr/>
          <p:nvPr/>
        </p:nvSpPr>
        <p:spPr>
          <a:xfrm>
            <a:off x="9134475" y="7748439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067800" y="7824639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793159" y="8043714"/>
            <a:ext cx="8701608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269409" y="8138964"/>
            <a:ext cx="8010157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publishes cleanly; green tests pass; red tests fail gracefully</a:t>
            </a:r>
            <a:endParaRPr lang="en-US" sz="1875" dirty="0"/>
          </a:p>
        </p:txBody>
      </p:sp>
      <p:sp>
        <p:nvSpPr>
          <p:cNvPr id="76" name="Text 74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8575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 04 — PROVE · SCHEMATIC 4.4, STEPS 10–12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609600"/>
            <a:ext cx="182727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0" spc="-69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Review it, then leave the documentation behind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38200" y="114300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66825"/>
            <a:ext cx="2875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 · CODE REVIEW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604617" y="1257300"/>
            <a:ext cx="2483346" cy="3048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18917" y="1285875"/>
            <a:ext cx="2503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REASONING ROLE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4411" y="1657350"/>
            <a:ext cx="4251312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4411" y="2815237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4411" y="1657350"/>
            <a:ext cx="4251312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4411" y="16573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66674" y="16573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6800" y="17811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14" name="Text 12"/>
          <p:cNvSpPr/>
          <p:nvPr/>
        </p:nvSpPr>
        <p:spPr>
          <a:xfrm>
            <a:off x="1066800" y="2066925"/>
            <a:ext cx="369413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Full built extension, TDD.md, Standards</a:t>
            </a:r>
            <a:endParaRPr lang="en-US" sz="2011" dirty="0"/>
          </a:p>
        </p:txBody>
      </p:sp>
      <p:sp>
        <p:nvSpPr>
          <p:cNvPr id="15" name="Shape 13"/>
          <p:cNvSpPr/>
          <p:nvPr/>
        </p:nvSpPr>
        <p:spPr>
          <a:xfrm>
            <a:off x="5015285" y="223644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24835" y="216976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72485" y="2815530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72485" y="1657350"/>
            <a:ext cx="7343031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2485" y="1657350"/>
            <a:ext cx="95250" cy="117723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796465" y="16573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77285" y="1781175"/>
            <a:ext cx="74905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77285" y="2066925"/>
            <a:ext cx="701392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quality, dead code, obsolete refs, anti-patterns, permission-set re-verify, BCQuality knowledge-backed review.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948865" y="2236440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58415" y="2169765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302276" y="1657350"/>
            <a:ext cx="4251313" cy="117723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302276" y="2815237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302276" y="1657350"/>
            <a:ext cx="4251313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302276" y="16573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534539" y="1657350"/>
            <a:ext cx="19050" cy="117723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663046" y="1781175"/>
            <a:ext cx="39451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31" name="Text 29"/>
          <p:cNvSpPr/>
          <p:nvPr/>
        </p:nvSpPr>
        <p:spPr>
          <a:xfrm>
            <a:off x="13663046" y="2066925"/>
            <a:ext cx="39451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CodeReview.md</a:t>
            </a:r>
            <a:endParaRPr lang="en-US" sz="2011" dirty="0"/>
          </a:p>
        </p:txBody>
      </p:sp>
      <p:sp>
        <p:nvSpPr>
          <p:cNvPr id="32" name="Shape 30"/>
          <p:cNvSpPr/>
          <p:nvPr/>
        </p:nvSpPr>
        <p:spPr>
          <a:xfrm>
            <a:off x="9134475" y="2929830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67800" y="3006030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32995" y="3206055"/>
            <a:ext cx="8221935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9245" y="3301305"/>
            <a:ext cx="7516093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critical findings resolved; dead-code scan 100% clean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134475" y="3753743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067800" y="3829943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8200" y="4029968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 · UPDATE DESIGN DOCUMENTS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706030" y="4396680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6030" y="5876482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6030" y="4396680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6030" y="439668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15667" y="439668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66800" y="452050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45" name="Text 43"/>
          <p:cNvSpPr/>
          <p:nvPr/>
        </p:nvSpPr>
        <p:spPr>
          <a:xfrm>
            <a:off x="1066800" y="4806255"/>
            <a:ext cx="3715362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TDD.md, FRD.md, ChangeLog, GapAnalysis.md, CodeReview.md</a:t>
            </a:r>
            <a:endParaRPr lang="en-US" sz="2011" dirty="0"/>
          </a:p>
        </p:txBody>
      </p:sp>
      <p:sp>
        <p:nvSpPr>
          <p:cNvPr id="46" name="Shape 44"/>
          <p:cNvSpPr/>
          <p:nvPr/>
        </p:nvSpPr>
        <p:spPr>
          <a:xfrm>
            <a:off x="5035897" y="5136728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245447" y="5070053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93097" y="4396680"/>
            <a:ext cx="7301805" cy="1499146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21697" y="4520505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721697" y="4806255"/>
            <a:ext cx="704994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 a new PostDevTDD.md (as-built); update FRD.md in place as the new baseline.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2928253" y="5136728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3137803" y="5070053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3253283" y="4396680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253283" y="5876482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3253283" y="4396680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3253283" y="439668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7562920" y="4396680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642434" y="4520505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59" name="Text 57"/>
          <p:cNvSpPr/>
          <p:nvPr/>
        </p:nvSpPr>
        <p:spPr>
          <a:xfrm>
            <a:off x="13642434" y="4806255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PostDevTDD.md, updated FRD.md</a:t>
            </a:r>
            <a:endParaRPr lang="en-US" sz="2011" dirty="0"/>
          </a:p>
        </p:txBody>
      </p:sp>
      <p:sp>
        <p:nvSpPr>
          <p:cNvPr id="60" name="Shape 58"/>
          <p:cNvSpPr/>
          <p:nvPr/>
        </p:nvSpPr>
        <p:spPr>
          <a:xfrm>
            <a:off x="9134475" y="5991076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067800" y="6067276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70103" y="6267301"/>
            <a:ext cx="7347719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46353" y="6362551"/>
            <a:ext cx="6615651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as-built TDD regenerable; FRD reflects reality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9134475" y="6814989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067800" y="6891189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38200" y="7091214"/>
            <a:ext cx="182727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C10E7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· DOCUMENT THE CODE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706030" y="7457926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06030" y="8937728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6030" y="7457926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06030" y="7457926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015667" y="7457926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95181" y="7581751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INPUTS</a:t>
            </a:r>
            <a:endParaRPr lang="en-US" sz="1856" dirty="0"/>
          </a:p>
        </p:txBody>
      </p:sp>
      <p:sp>
        <p:nvSpPr>
          <p:cNvPr id="73" name="Text 71"/>
          <p:cNvSpPr/>
          <p:nvPr/>
        </p:nvSpPr>
        <p:spPr>
          <a:xfrm>
            <a:off x="1095181" y="7867501"/>
            <a:ext cx="371536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PostDevTDD.md, built AL, Step 09 test-run record</a:t>
            </a:r>
            <a:endParaRPr lang="en-US" sz="2011" dirty="0"/>
          </a:p>
        </p:txBody>
      </p:sp>
      <p:sp>
        <p:nvSpPr>
          <p:cNvPr id="74" name="Shape 72"/>
          <p:cNvSpPr/>
          <p:nvPr/>
        </p:nvSpPr>
        <p:spPr>
          <a:xfrm>
            <a:off x="5035897" y="8197974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245447" y="8131299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493097" y="7457926"/>
            <a:ext cx="7301805" cy="1499146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721697" y="7581751"/>
            <a:ext cx="7529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ACTIONS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721697" y="7867501"/>
            <a:ext cx="7049944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Generate reference docs and a Mermaid ER diagram — render it — plus a human test script, UserGuide.md and Deployment.md.</a:t>
            </a:r>
            <a:endParaRPr lang="en-US" sz="1950" dirty="0"/>
          </a:p>
        </p:txBody>
      </p:sp>
      <p:sp>
        <p:nvSpPr>
          <p:cNvPr id="79" name="Shape 77"/>
          <p:cNvSpPr/>
          <p:nvPr/>
        </p:nvSpPr>
        <p:spPr>
          <a:xfrm>
            <a:off x="12928253" y="8197974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3137803" y="8131299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3253283" y="7457926"/>
            <a:ext cx="4328687" cy="1499146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3253283" y="8937728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3253283" y="7457926"/>
            <a:ext cx="4328687" cy="1934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3253283" y="7457926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7562920" y="7457926"/>
            <a:ext cx="19050" cy="1499146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3614053" y="7581751"/>
            <a:ext cx="396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56" b="1" kern="0" spc="180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OUTPUT</a:t>
            </a:r>
            <a:endParaRPr lang="en-US" sz="1856" dirty="0"/>
          </a:p>
        </p:txBody>
      </p:sp>
      <p:sp>
        <p:nvSpPr>
          <p:cNvPr id="87" name="Text 85"/>
          <p:cNvSpPr/>
          <p:nvPr/>
        </p:nvSpPr>
        <p:spPr>
          <a:xfrm>
            <a:off x="13614053" y="7867501"/>
            <a:ext cx="3715362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596"/>
              </a:lnSpc>
              <a:buNone/>
            </a:pPr>
            <a:r>
              <a:rPr lang="en-US" sz="201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Documentation · UserGuide · HumanUnitTestScript · Deployment</a:t>
            </a:r>
            <a:endParaRPr lang="en-US" sz="2011" dirty="0"/>
          </a:p>
        </p:txBody>
      </p:sp>
      <p:sp>
        <p:nvSpPr>
          <p:cNvPr id="88" name="Shape 86"/>
          <p:cNvSpPr/>
          <p:nvPr/>
        </p:nvSpPr>
        <p:spPr>
          <a:xfrm>
            <a:off x="9134475" y="9052322"/>
            <a:ext cx="19050" cy="762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9067800" y="9128522"/>
            <a:ext cx="152400" cy="10477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302719" y="9347597"/>
            <a:ext cx="7364164" cy="45243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778969" y="9442847"/>
            <a:ext cx="6632589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GATE </a:t>
            </a:r>
            <a:r>
              <a:rPr lang="en-US" sz="1875" dirty="0">
                <a:solidFill>
                  <a:srgbClr val="F3F2F2"/>
                </a:solidFill>
                <a:highlight>
                  <a:srgbClr val="201E1D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reference generated from code; ready for UAT</a:t>
            </a:r>
            <a:endParaRPr lang="en-US" sz="1875" dirty="0"/>
          </a:p>
        </p:txBody>
      </p:sp>
      <p:sp>
        <p:nvSpPr>
          <p:cNvPr id="92" name="Shape 90"/>
          <p:cNvSpPr/>
          <p:nvPr/>
        </p:nvSpPr>
        <p:spPr>
          <a:xfrm>
            <a:off x="10857384" y="9564291"/>
            <a:ext cx="20955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1066934" y="9497616"/>
            <a:ext cx="114300" cy="15240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1371734" y="9328547"/>
            <a:ext cx="3613547" cy="490538"/>
          </a:xfrm>
          <a:prstGeom prst="roundRect">
            <a:avLst>
              <a:gd name="adj" fmla="val 50000"/>
            </a:avLst>
          </a:prstGeom>
          <a:ln w="19050">
            <a:solidFill>
              <a:srgbClr val="201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1638434" y="9442847"/>
            <a:ext cx="31885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Deployed, Documented App</a:t>
            </a:r>
            <a:endParaRPr lang="en-US" sz="1875" dirty="0"/>
          </a:p>
        </p:txBody>
      </p:sp>
      <p:sp>
        <p:nvSpPr>
          <p:cNvPr id="96" name="Text 94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457200"/>
            <a:ext cx="18272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SCHEMATIC 5 — CROSS-CUTTING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781050"/>
            <a:ext cx="182727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4500" b="1" kern="0" spc="-9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 — continuous discipline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1504950"/>
            <a:ext cx="16611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2443163"/>
            <a:ext cx="3688556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8200" y="1733550"/>
            <a:ext cx="3688556" cy="11430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8200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07706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1981200"/>
            <a:ext cx="33801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60106" y="2088356"/>
            <a:ext cx="228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88706" y="2012156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45881" y="2443163"/>
            <a:ext cx="3688556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45881" y="1733550"/>
            <a:ext cx="3688556" cy="11430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45881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5388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5431" y="1981200"/>
            <a:ext cx="33801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967788" y="2088356"/>
            <a:ext cx="228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96388" y="2012156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53563" y="2443163"/>
            <a:ext cx="3688556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53563" y="1733550"/>
            <a:ext cx="3688556" cy="11430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53563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123069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63112" y="1981200"/>
            <a:ext cx="33801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3275469" y="2088356"/>
            <a:ext cx="228600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504069" y="2012156"/>
            <a:ext cx="123825" cy="1714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761244" y="2443163"/>
            <a:ext cx="3688556" cy="190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61244" y="1733550"/>
            <a:ext cx="3688556" cy="11430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61244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430750" y="1733550"/>
            <a:ext cx="19050" cy="72866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970794" y="1981200"/>
            <a:ext cx="33801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3825553" y="2671763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01753" y="2795588"/>
            <a:ext cx="19050" cy="2095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4009" y="2671763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90209" y="2795588"/>
            <a:ext cx="19050" cy="2095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802466" y="2671763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878666" y="2795588"/>
            <a:ext cx="19050" cy="2095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290923" y="2671763"/>
            <a:ext cx="171450" cy="12382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367123" y="2795588"/>
            <a:ext cx="19050" cy="20955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8200" y="3214688"/>
            <a:ext cx="16611600" cy="6615113"/>
          </a:xfrm>
          <a:prstGeom prst="rect">
            <a:avLst/>
          </a:prstGeom>
          <a:ln w="19050">
            <a:solidFill>
              <a:srgbClr val="201E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04900" y="3443288"/>
            <a:ext cx="198892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ALONG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103513" y="3500438"/>
            <a:ext cx="41614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kern="0" spc="188" dirty="0">
                <a:solidFill>
                  <a:srgbClr val="605D5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PHASE, EVERY STEP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04900" y="3943350"/>
            <a:ext cx="16078200" cy="5657850"/>
          </a:xfrm>
          <a:prstGeom prst="rect">
            <a:avLst/>
          </a:prstGeom>
          <a:solidFill>
            <a:srgbClr val="C9C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04900" y="394335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76350" y="409575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</a:t>
            </a:r>
            <a:endParaRPr lang="en-US" sz="2175" dirty="0"/>
          </a:p>
        </p:txBody>
      </p:sp>
      <p:sp>
        <p:nvSpPr>
          <p:cNvPr id="45" name="Text 43"/>
          <p:cNvSpPr/>
          <p:nvPr/>
        </p:nvSpPr>
        <p:spPr>
          <a:xfrm>
            <a:off x="1276350" y="445293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every required doc current, not retroactively.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5129213" y="394335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00663" y="409575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Track Changes</a:t>
            </a:r>
            <a:endParaRPr lang="en-US" sz="2175" dirty="0"/>
          </a:p>
        </p:txBody>
      </p:sp>
      <p:sp>
        <p:nvSpPr>
          <p:cNvPr id="48" name="Text 46"/>
          <p:cNvSpPr/>
          <p:nvPr/>
        </p:nvSpPr>
        <p:spPr>
          <a:xfrm>
            <a:off x="5300663" y="445293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FRD/TDD deviation logged before the next batch.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9153525" y="394335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324975" y="409575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Retain Explanations</a:t>
            </a:r>
            <a:endParaRPr lang="en-US" sz="2175" dirty="0"/>
          </a:p>
        </p:txBody>
      </p:sp>
      <p:sp>
        <p:nvSpPr>
          <p:cNvPr id="51" name="Text 49"/>
          <p:cNvSpPr/>
          <p:nvPr/>
        </p:nvSpPr>
        <p:spPr>
          <a:xfrm>
            <a:off x="9324975" y="445293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decided, and why — not just the outcome.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3177838" y="394335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349288" y="409575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Testing Feedback Log</a:t>
            </a:r>
            <a:endParaRPr lang="en-US" sz="2175" dirty="0"/>
          </a:p>
        </p:txBody>
      </p:sp>
      <p:sp>
        <p:nvSpPr>
          <p:cNvPr id="54" name="Text 52"/>
          <p:cNvSpPr/>
          <p:nvPr/>
        </p:nvSpPr>
        <p:spPr>
          <a:xfrm>
            <a:off x="13349288" y="445293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Verbatim findings, triaged explicitly, cross-referenced.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1104900" y="678180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76350" y="693420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Project Memory</a:t>
            </a:r>
            <a:endParaRPr lang="en-US" sz="2175" dirty="0"/>
          </a:p>
        </p:txBody>
      </p:sp>
      <p:sp>
        <p:nvSpPr>
          <p:cNvPr id="57" name="Text 55"/>
          <p:cNvSpPr/>
          <p:nvPr/>
        </p:nvSpPr>
        <p:spPr>
          <a:xfrm>
            <a:off x="1276350" y="729138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docs/ProjectMemory.md — an anchor, not a narrative.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5129213" y="678180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300663" y="693420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Packaging &amp; Versioning</a:t>
            </a:r>
            <a:endParaRPr lang="en-US" sz="2175" dirty="0"/>
          </a:p>
        </p:txBody>
      </p:sp>
      <p:sp>
        <p:nvSpPr>
          <p:cNvPr id="60" name="Text 58"/>
          <p:cNvSpPr/>
          <p:nvPr/>
        </p:nvSpPr>
        <p:spPr>
          <a:xfrm>
            <a:off x="5300663" y="729138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delete a package; propose bumps, don't apply silently.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9153525" y="678180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24975" y="693420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 MCP Server</a:t>
            </a:r>
            <a:endParaRPr lang="en-US" sz="2175" dirty="0"/>
          </a:p>
        </p:txBody>
      </p:sp>
      <p:sp>
        <p:nvSpPr>
          <p:cNvPr id="63" name="Text 61"/>
          <p:cNvSpPr/>
          <p:nvPr/>
        </p:nvSpPr>
        <p:spPr>
          <a:xfrm>
            <a:off x="9324975" y="729138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Bootstrap once; prefer its tools over ad hoc terminal use.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3177838" y="6781800"/>
            <a:ext cx="4005262" cy="28194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3349288" y="6934200"/>
            <a:ext cx="4028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BCQuality Snapshot</a:t>
            </a:r>
            <a:endParaRPr lang="en-US" sz="2175" dirty="0"/>
          </a:p>
        </p:txBody>
      </p:sp>
      <p:sp>
        <p:nvSpPr>
          <p:cNvPr id="66" name="Text 64"/>
          <p:cNvSpPr/>
          <p:nvPr/>
        </p:nvSpPr>
        <p:spPr>
          <a:xfrm>
            <a:off x="13349288" y="7291388"/>
            <a:ext cx="37722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82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Fetch once; refresh only on explicit request.</a:t>
            </a:r>
            <a:endParaRPr lang="en-US" sz="1875" dirty="0"/>
          </a:p>
        </p:txBody>
      </p:sp>
      <p:sp>
        <p:nvSpPr>
          <p:cNvPr id="67" name="Text 65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7D79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0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ONLYCOPILOTFANS — AGENTIC DEVELOPMENT FRAMEWORK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275261"/>
            <a:ext cx="15304770" cy="274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6450" b="1" kern="0" spc="-193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Simple Enough for Functional Consultants. Robust Enough for Pro Developers.</a:t>
            </a:r>
            <a:endParaRPr lang="en-US" sz="6450" dirty="0"/>
          </a:p>
        </p:txBody>
      </p:sp>
      <p:sp>
        <p:nvSpPr>
          <p:cNvPr id="4" name="Shape 2"/>
          <p:cNvSpPr/>
          <p:nvPr/>
        </p:nvSpPr>
        <p:spPr>
          <a:xfrm>
            <a:off x="1047750" y="6397377"/>
            <a:ext cx="16192500" cy="1905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6835527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Created by AJ Ansari, Microsoft MVP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9277350"/>
            <a:ext cx="4048125" cy="9525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95875" y="9277350"/>
            <a:ext cx="4048125" cy="95250"/>
          </a:xfrm>
          <a:prstGeom prst="rect">
            <a:avLst/>
          </a:prstGeom>
          <a:solidFill>
            <a:srgbClr val="0A7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0" y="9277350"/>
            <a:ext cx="4048125" cy="95250"/>
          </a:xfrm>
          <a:prstGeom prst="rect">
            <a:avLst/>
          </a:prstGeom>
          <a:solidFill>
            <a:srgbClr val="6B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192125" y="9277350"/>
            <a:ext cx="4048125" cy="95250"/>
          </a:xfrm>
          <a:prstGeom prst="rect">
            <a:avLst/>
          </a:prstGeom>
          <a:solidFill>
            <a:srgbClr val="C10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229284" y="9829800"/>
            <a:ext cx="296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© 2026 OnlyCopilotFans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60A4F3-FB9B-0643-A253-4F05C25831F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9fd71a0-3235-45e1-89bc-7c0e9a4eb82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2432</Words>
  <Application>Microsoft Macintosh PowerPoint</Application>
  <PresentationFormat>Custom</PresentationFormat>
  <Paragraphs>347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Archivo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 Ansari</cp:lastModifiedBy>
  <cp:revision>2</cp:revision>
  <dcterms:created xsi:type="dcterms:W3CDTF">2026-09-12T11:24:29Z</dcterms:created>
  <dcterms:modified xsi:type="dcterms:W3CDTF">2026-09-12T11:42:48Z</dcterms:modified>
</cp:coreProperties>
</file>
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289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480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1 — the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2 — four phases, ALL ALONG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3 — the shape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4 — DEFINE.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5 —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6 — BUILD, the one compile.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7 — PROVE, five steps to UAT.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8 — the §1.7 role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9 — the eight continuous disciplines.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10 — close on the tagline.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2228850" cy="9525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14650" y="685800"/>
            <a:ext cx="2228850" cy="95250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143500" y="685800"/>
            <a:ext cx="2228850" cy="9525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72350" y="685800"/>
            <a:ext cx="2228850" cy="95250"/>
          </a:xfrm>
          <a:prstGeom prst="rect">
            <a:avLst/>
          </a:prstGeom>
          <a:solidFill>
            <a:srgbClr val="C10E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2653"/>
            <a:ext cx="4191000" cy="14004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946526"/>
            <a:ext cx="9182862" cy="286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48"/>
              </a:lnSpc>
              <a:buNone/>
            </a:pPr>
            <a:r>
              <a:rPr lang="en-US" sz="7800" b="1" kern="0" spc="-234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D365 BC Agentic Development Framework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685800" y="8150647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8550697"/>
            <a:ext cx="9182862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458"/>
              </a:lnSpc>
              <a:buNone/>
            </a:pPr>
            <a:r>
              <a:rPr lang="en-US" sz="28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Simple Enough for Functional Consultants. </a:t>
            </a:r>
          </a:p>
          <a:p>
            <a:pPr marL="0" indent="0" algn="l">
              <a:lnSpc>
                <a:spcPct val="114458"/>
              </a:lnSpc>
              <a:buNone/>
            </a:pPr>
            <a:r>
              <a:rPr lang="en-US" sz="28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Robust Enough for Pro Developers.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85800" y="11687175"/>
            <a:ext cx="98069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Created by AJ Ansari, Microsoft MVP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7228284" y="1240155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71500"/>
            <a:ext cx="98069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SCHEMATIC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85800" y="938213"/>
            <a:ext cx="9182862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852"/>
              </a:lnSpc>
              <a:buNone/>
            </a:pPr>
            <a:r>
              <a:rPr lang="en-US" sz="4650" b="1" kern="0" spc="-93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Four phases. Twelve steps. A gate on every one.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685800" y="229076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3705225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251936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2519363"/>
            <a:ext cx="152400" cy="1204913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82150" y="2519363"/>
            <a:ext cx="19050" cy="120491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6800" y="2709863"/>
            <a:ext cx="91154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DEFINE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066800" y="3162300"/>
            <a:ext cx="91154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Scope the problem, fill in parameters. PRE-01 · PRE-02 · 01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5133975" y="3724275"/>
            <a:ext cx="19050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57775" y="3895725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" y="5195888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" y="4010025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4010025"/>
            <a:ext cx="152400" cy="1204913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582150" y="4010025"/>
            <a:ext cx="19050" cy="120491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6800" y="4200525"/>
            <a:ext cx="91154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DESIGN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066800" y="4652963"/>
            <a:ext cx="91154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FRD, plus a self-sufficient TDD. 02 · 03 · 04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5133975" y="5214938"/>
            <a:ext cx="19050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57775" y="538638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6686550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" y="5500688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" y="5500688"/>
            <a:ext cx="152400" cy="1204913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582150" y="5500688"/>
            <a:ext cx="19050" cy="120491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66800" y="5691188"/>
            <a:ext cx="91154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BUILD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1066800" y="6143625"/>
            <a:ext cx="91154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Generate AL, lint, one mandatory compile. 05 · 06 · 07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5133975" y="6705600"/>
            <a:ext cx="19050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57775" y="6877050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" y="817721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5800" y="6991350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5800" y="6991350"/>
            <a:ext cx="152400" cy="1204913"/>
          </a:xfrm>
          <a:prstGeom prst="rect">
            <a:avLst/>
          </a:prstGeom>
          <a:solidFill>
            <a:srgbClr val="C10E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82150" y="6991350"/>
            <a:ext cx="19050" cy="120491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66800" y="7181850"/>
            <a:ext cx="91154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</a:t>
            </a:r>
            <a:endParaRPr lang="en-US" sz="3300" dirty="0"/>
          </a:p>
        </p:txBody>
      </p:sp>
      <p:sp>
        <p:nvSpPr>
          <p:cNvPr id="34" name="Text 32"/>
          <p:cNvSpPr/>
          <p:nvPr/>
        </p:nvSpPr>
        <p:spPr>
          <a:xfrm>
            <a:off x="1066800" y="7634288"/>
            <a:ext cx="91154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Test, review, document, package. 08 · 09 · 10 · 11 · 12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5133975" y="8196262"/>
            <a:ext cx="19050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57775" y="8367712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952452" y="8482013"/>
            <a:ext cx="4382021" cy="657225"/>
          </a:xfrm>
          <a:prstGeom prst="roundRect">
            <a:avLst>
              <a:gd name="adj" fmla="val 50000"/>
            </a:avLst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95352" y="8653463"/>
            <a:ext cx="38276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Deployed, Documented App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685800" y="10969972"/>
            <a:ext cx="8915400" cy="1126778"/>
          </a:xfrm>
          <a:prstGeom prst="rect">
            <a:avLst/>
          </a:prstGeom>
          <a:ln w="19050">
            <a:solidFill>
              <a:srgbClr val="201E1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33450" y="11160472"/>
            <a:ext cx="8687562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ALONG </a:t>
            </a:r>
            <a:r>
              <a:rPr lang="en-US" sz="21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continuous discipline runs underneath every one of those four phases.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28284" y="1240155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71500"/>
            <a:ext cx="98069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READING THE SCHEMATICS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85800" y="938213"/>
            <a:ext cx="98069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852"/>
              </a:lnSpc>
              <a:buNone/>
            </a:pPr>
            <a:r>
              <a:rPr lang="en-US" sz="4650" b="1" kern="0" spc="-93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shape means one thing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685800" y="170021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966912"/>
            <a:ext cx="1773064" cy="557213"/>
          </a:xfrm>
          <a:prstGeom prst="roundRect">
            <a:avLst>
              <a:gd name="adj" fmla="val 50000"/>
            </a:avLst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2500" y="2100263"/>
            <a:ext cx="131586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Start / end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314700" y="2095500"/>
            <a:ext cx="345356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Start or end point of a flow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85800" y="2733675"/>
            <a:ext cx="1334616" cy="557213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2500" y="2867025"/>
            <a:ext cx="8774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314700" y="2862263"/>
            <a:ext cx="355481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action, step, or process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636674" y="3500438"/>
            <a:ext cx="1131193" cy="557213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6674" y="4038306"/>
            <a:ext cx="1131193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6674" y="3500438"/>
            <a:ext cx="1131193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6674" y="3500438"/>
            <a:ext cx="19050" cy="55721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48817" y="3500438"/>
            <a:ext cx="19050" cy="55721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2500" y="3637341"/>
            <a:ext cx="575742" cy="321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16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</a:t>
            </a:r>
            <a:endParaRPr lang="en-US" sz="2165" dirty="0"/>
          </a:p>
        </p:txBody>
      </p:sp>
      <p:sp>
        <p:nvSpPr>
          <p:cNvPr id="17" name="Text 15"/>
          <p:cNvSpPr/>
          <p:nvPr/>
        </p:nvSpPr>
        <p:spPr>
          <a:xfrm>
            <a:off x="3314700" y="3629025"/>
            <a:ext cx="471151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 or output — data, a document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685800" y="4267200"/>
            <a:ext cx="1317352" cy="51911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47750" y="4381500"/>
            <a:ext cx="66965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Gate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314700" y="4376738"/>
            <a:ext cx="605362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exit gate — met before the next step starts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685800" y="4995863"/>
            <a:ext cx="1910060" cy="59531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4850" y="5014913"/>
            <a:ext cx="1871960" cy="557213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23950" y="5148263"/>
            <a:ext cx="110996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Choice?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3314700" y="5143500"/>
            <a:ext cx="214142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decision point</a:t>
            </a:r>
            <a:endParaRPr lang="en-US" sz="2175" dirty="0"/>
          </a:p>
        </p:txBody>
      </p:sp>
      <p:sp>
        <p:nvSpPr>
          <p:cNvPr id="25" name="Shape 23"/>
          <p:cNvSpPr/>
          <p:nvPr/>
        </p:nvSpPr>
        <p:spPr>
          <a:xfrm>
            <a:off x="685800" y="5800725"/>
            <a:ext cx="1598637" cy="557213"/>
          </a:xfrm>
          <a:prstGeom prst="rect">
            <a:avLst/>
          </a:prstGeom>
          <a:ln w="19050">
            <a:solidFill>
              <a:srgbClr val="201E1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52500" y="5934075"/>
            <a:ext cx="11414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along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3314700" y="5929313"/>
            <a:ext cx="596726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cross-cutting concern, running underneath</a:t>
            </a:r>
            <a:endParaRPr lang="en-US" sz="2175" dirty="0"/>
          </a:p>
        </p:txBody>
      </p:sp>
      <p:sp>
        <p:nvSpPr>
          <p:cNvPr id="28" name="Shape 26"/>
          <p:cNvSpPr/>
          <p:nvPr/>
        </p:nvSpPr>
        <p:spPr>
          <a:xfrm>
            <a:off x="685800" y="6567488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" y="6796088"/>
            <a:ext cx="152400" cy="561975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90600" y="6796088"/>
            <a:ext cx="18630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90600" y="7086600"/>
            <a:ext cx="186303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Writes the code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3740125" y="6796088"/>
            <a:ext cx="152400" cy="561975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44925" y="6796088"/>
            <a:ext cx="165781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Light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4044925" y="7086600"/>
            <a:ext cx="16578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Pre-flight only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6794525" y="6796088"/>
            <a:ext cx="152400" cy="561975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99325" y="6796088"/>
            <a:ext cx="178518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7099325" y="7086600"/>
            <a:ext cx="178518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Drafts, reviews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7228284" y="1240155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71500"/>
            <a:ext cx="98069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0F6CB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01 — SCHEMATIC 2.1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85800" y="938213"/>
            <a:ext cx="98069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852"/>
              </a:lnSpc>
              <a:buNone/>
            </a:pPr>
            <a:r>
              <a:rPr lang="en-US" sz="4650" b="1" kern="0" spc="-93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DEFINE — ask, don't infer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685800" y="170021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70349" y="1947863"/>
            <a:ext cx="3746302" cy="595313"/>
          </a:xfrm>
          <a:prstGeom prst="roundRect">
            <a:avLst>
              <a:gd name="adj" fmla="val 50000"/>
            </a:avLst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75149" y="2100263"/>
            <a:ext cx="324909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Stakeholder conversation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133975" y="2543175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57775" y="2695575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4193828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2809875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2809875"/>
            <a:ext cx="133350" cy="1403003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582150" y="2809875"/>
            <a:ext cx="19050" cy="140300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2981325"/>
            <a:ext cx="91363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PRE-01 · State the Problem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47750" y="3348038"/>
            <a:ext cx="855497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44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Problem statement, vocabulary, initial entity list, flagged ambiguities → ProblemStatement.md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133975" y="4212878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57775" y="436527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54325" y="4479578"/>
            <a:ext cx="4178275" cy="5000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54375" y="4593878"/>
            <a:ext cx="3503523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Functional Consultant signs off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133975" y="4979640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57775" y="5132040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663029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" y="5246340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" y="5246340"/>
            <a:ext cx="133350" cy="1403003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582150" y="5246340"/>
            <a:ext cx="19050" cy="140300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7750" y="5417790"/>
            <a:ext cx="91363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PRE-02 · Structured Gap Analysis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47750" y="5784503"/>
            <a:ext cx="855497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44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Analytical, posted, lookup, secondary docs, legacy vs. modern, tax, global/local → expanded entity list + gap log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133975" y="6649343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57775" y="6801743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135981" y="6916043"/>
            <a:ext cx="6015038" cy="5000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36031" y="7030343"/>
            <a:ext cx="5395389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Technical Lead reviews; gaps closed or deferred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5133975" y="7416105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57775" y="7568505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" y="9066758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5800" y="7682805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5800" y="7682805"/>
            <a:ext cx="133350" cy="1403003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82150" y="7682805"/>
            <a:ext cx="19050" cy="140300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47750" y="7854255"/>
            <a:ext cx="91363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 · Populate the Intake Sheet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047750" y="8220968"/>
            <a:ext cx="855497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44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Identity, ID ranges, naming/API, platform, onboarding, §1.7 role assignment → Project Parameters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5133975" y="9085808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057775" y="923820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67955" y="9352508"/>
            <a:ext cx="5151016" cy="5000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968005" y="9466808"/>
            <a:ext cx="4505446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placeholders; human confirms sheet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7228284" y="1240155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71500"/>
            <a:ext cx="98069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0A7C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02 — SCHEMATIC 2.2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85800" y="938213"/>
            <a:ext cx="98069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852"/>
              </a:lnSpc>
              <a:buNone/>
            </a:pPr>
            <a:r>
              <a:rPr lang="en-US" sz="4650" b="1" kern="0" spc="-93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DESIGN — what, then how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685800" y="170021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3331815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94786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947863"/>
            <a:ext cx="133350" cy="1403003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82150" y="1947863"/>
            <a:ext cx="19050" cy="140300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2119313"/>
            <a:ext cx="288990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· Craft the FRD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08288" y="2176463"/>
            <a:ext cx="159446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6B4FC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047750" y="2486025"/>
            <a:ext cx="855497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44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Business language — what and why, not how. Validate against DEFINE → FRD.md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133975" y="3350865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57775" y="3503265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10085" y="3617565"/>
            <a:ext cx="6066830" cy="5000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10135" y="3731865"/>
            <a:ext cx="5448735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Dev Manager sign-off; every entity accounted for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5133975" y="4117628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57775" y="427002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5768280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4384328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" y="4384328"/>
            <a:ext cx="133350" cy="1403003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82150" y="4384328"/>
            <a:ext cx="19050" cy="140300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47750" y="4555778"/>
            <a:ext cx="290316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· Craft the TDD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20344" y="4612928"/>
            <a:ext cx="159446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6B4FC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47750" y="4922490"/>
            <a:ext cx="855497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44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System identity, module grouping, batch plan, per-object spec, permission sets — must be self-sufficient → TDD.md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5133975" y="5787330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57775" y="5939730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53630" y="6054030"/>
            <a:ext cx="5779666" cy="5000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53680" y="6168330"/>
            <a:ext cx="5152956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Technical Lead sign-off; self-sufficiency check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5133975" y="6554093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57775" y="6706493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5800" y="8204746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85800" y="682079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" y="6820793"/>
            <a:ext cx="133350" cy="1403003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82150" y="6820793"/>
            <a:ext cx="19050" cy="140300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47750" y="6992243"/>
            <a:ext cx="287091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 · Sanity Check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791024" y="7049393"/>
            <a:ext cx="159446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6B4FC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1047750" y="7358955"/>
            <a:ext cx="855497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44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Can BC actually do this? Does the TDD implement the FRD? → SanityCheck.md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5133975" y="8223796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57775" y="8376196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803079" y="8490496"/>
            <a:ext cx="2680841" cy="5000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03129" y="8604796"/>
            <a:ext cx="1961166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 blocking issues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685800" y="11097667"/>
            <a:ext cx="8915400" cy="999083"/>
          </a:xfrm>
          <a:prstGeom prst="rect">
            <a:avLst/>
          </a:prstGeom>
          <a:ln w="19050">
            <a:solidFill>
              <a:srgbClr val="201E1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14400" y="11250067"/>
            <a:ext cx="8725662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69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Main role integrates every draft and carries it to the human. The Reasoning role never owns sign-off.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7228284" y="1240155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71500"/>
            <a:ext cx="98069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6B4FC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03 — SCHEMATIC 2.3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85800" y="938213"/>
            <a:ext cx="98069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852"/>
              </a:lnSpc>
              <a:buNone/>
            </a:pPr>
            <a:r>
              <a:rPr lang="en-US" sz="4650" b="1" kern="0" spc="-93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BUILD — exactly one compile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685800" y="170021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3331815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94786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947863"/>
            <a:ext cx="133350" cy="1403003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82150" y="1947863"/>
            <a:ext cx="19050" cy="140300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2119313"/>
            <a:ext cx="91363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 · Plan the Code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47750" y="2486025"/>
            <a:ext cx="855497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44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Batch order, scaffold, AL MCP Server + BCQuality snapshot, pre-flight checks written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33975" y="3350865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57775" y="3503265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00312" y="3617565"/>
            <a:ext cx="6486376" cy="5000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00362" y="3731865"/>
            <a:ext cx="5880867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Batch order agreed; scaffold complete, not compiled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133975" y="4117628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57775" y="427002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6634088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4384328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4384328"/>
            <a:ext cx="133350" cy="226881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82150" y="4384328"/>
            <a:ext cx="19050" cy="226881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7750" y="4555778"/>
            <a:ext cx="349424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 · Code Generation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357688" y="4612928"/>
            <a:ext cx="200889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repeats per batch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47750" y="4941540"/>
            <a:ext cx="8554974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9344"/>
              </a:lnSpc>
              <a:buNone/>
            </a:pPr>
            <a:r>
              <a:rPr lang="en-US" sz="2100" b="1" dirty="0">
                <a:solidFill>
                  <a:srgbClr val="0F6CB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 </a:t>
            </a: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approves and generates, then runs pre-generation pre-flight. </a:t>
            </a:r>
            <a:r>
              <a:rPr lang="en-US" sz="2100" b="1" dirty="0">
                <a:solidFill>
                  <a:srgbClr val="0A7C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Light </a:t>
            </a: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runs post-generation pre-flight and permission-set coverage, and reports back.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47750" y="6076876"/>
            <a:ext cx="83058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7750" y="6191176"/>
            <a:ext cx="855497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↻ loop until every planned batch exists — no compile here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5133975" y="6653138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57775" y="680553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63080" y="6919838"/>
            <a:ext cx="5760839" cy="5000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63130" y="7034138"/>
            <a:ext cx="5133564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batch pre-flight clean; coverage verified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5133975" y="7419901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57775" y="7572301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85800" y="9570616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" y="7686601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5800" y="7686601"/>
            <a:ext cx="133350" cy="1903065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82150" y="7686601"/>
            <a:ext cx="19050" cy="190306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47750" y="7858051"/>
            <a:ext cx="91363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 · Troubleshoot, Iterate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047750" y="8224763"/>
            <a:ext cx="855497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44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Compile the whole extension once — the one mandatory compile. </a:t>
            </a:r>
            <a:r>
              <a:rPr lang="en-US" sz="2100" b="1" dirty="0">
                <a:solidFill>
                  <a:srgbClr val="6B4FC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 </a:t>
            </a: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diagnoses root cause, </a:t>
            </a:r>
            <a:r>
              <a:rPr lang="en-US" sz="2100" b="1" dirty="0">
                <a:solidFill>
                  <a:srgbClr val="0F6CB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 </a:t>
            </a: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fixes and re-compiles.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047750" y="9013403"/>
            <a:ext cx="83058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47750" y="9127703"/>
            <a:ext cx="855497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↻ repeat until clean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5133975" y="9589666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057775" y="9742066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642047" y="9856366"/>
            <a:ext cx="3002905" cy="5000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042097" y="9970666"/>
            <a:ext cx="2292892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 errors / 0 warnings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7228284" y="1240155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71500"/>
            <a:ext cx="98069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10E7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04 — SCHEMATIC 2.4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85800" y="938213"/>
            <a:ext cx="98069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852"/>
              </a:lnSpc>
              <a:buNone/>
            </a:pPr>
            <a:r>
              <a:rPr lang="en-US" sz="4650" b="1" kern="0" spc="-93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 — five steps to UAT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685800" y="170021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2793206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909762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909762"/>
            <a:ext cx="133350" cy="902494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82150" y="1909762"/>
            <a:ext cx="19050" cy="90249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8700" y="2043113"/>
            <a:ext cx="91782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 · Gap-Fit Test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28700" y="2357438"/>
            <a:ext cx="917829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Three-way comparison — FRD vs. TDD vs. as-built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5133975" y="2812256"/>
            <a:ext cx="190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67300" y="2926556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02619" y="3031331"/>
            <a:ext cx="5281687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83619" y="3126581"/>
            <a:ext cx="4678138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gap classified, resolved or scheduled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5133975" y="3483769"/>
            <a:ext cx="190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67300" y="3598069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4586288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3702844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3702844"/>
            <a:ext cx="133350" cy="902494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82150" y="3702844"/>
            <a:ext cx="19050" cy="90249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8700" y="3836194"/>
            <a:ext cx="91782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 · Package and Test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28700" y="4150519"/>
            <a:ext cx="917829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Build the .app, publish to sandbox, green-team and red-team tests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5133975" y="4605338"/>
            <a:ext cx="190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67300" y="4719638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691408" y="4824413"/>
            <a:ext cx="4904184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072408" y="4919663"/>
            <a:ext cx="4289310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Publishes cleanly; green/red-team pass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5133975" y="5276850"/>
            <a:ext cx="190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67300" y="5391150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" y="6379369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5800" y="5495925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5800" y="5495925"/>
            <a:ext cx="133350" cy="902494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82150" y="5495925"/>
            <a:ext cx="19050" cy="90249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28700" y="5629275"/>
            <a:ext cx="91782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 · Code Review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028700" y="5943600"/>
            <a:ext cx="917829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Quality, dead code, anti-patterns, permission-set re-verify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5133975" y="6398419"/>
            <a:ext cx="190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67300" y="6512719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260848" y="6617494"/>
            <a:ext cx="5765229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41848" y="6712744"/>
            <a:ext cx="5176186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Critical findings resolved; dead-code scan clean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5133975" y="7069931"/>
            <a:ext cx="190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067300" y="7184231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85800" y="8172450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85800" y="7289006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85800" y="7289006"/>
            <a:ext cx="133350" cy="902494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82150" y="7289006"/>
            <a:ext cx="19050" cy="90249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28700" y="7422356"/>
            <a:ext cx="91782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 · Update Design Documents</a:t>
            </a:r>
            <a:endParaRPr lang="en-US" sz="2250" dirty="0"/>
          </a:p>
        </p:txBody>
      </p:sp>
      <p:sp>
        <p:nvSpPr>
          <p:cNvPr id="46" name="Text 44"/>
          <p:cNvSpPr/>
          <p:nvPr/>
        </p:nvSpPr>
        <p:spPr>
          <a:xfrm>
            <a:off x="1028700" y="7736681"/>
            <a:ext cx="917829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As-built PostDevTDD.md; FRD.md updated as the new baseline</a:t>
            </a:r>
            <a:endParaRPr lang="en-US" sz="2025" dirty="0"/>
          </a:p>
        </p:txBody>
      </p:sp>
      <p:sp>
        <p:nvSpPr>
          <p:cNvPr id="47" name="Shape 45"/>
          <p:cNvSpPr/>
          <p:nvPr/>
        </p:nvSpPr>
        <p:spPr>
          <a:xfrm>
            <a:off x="5133975" y="8191500"/>
            <a:ext cx="190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067300" y="8305800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370088" y="8410575"/>
            <a:ext cx="5546750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51088" y="8505825"/>
            <a:ext cx="4951152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As-built TDD regenerable; FRD reflects reality</a:t>
            </a:r>
            <a:endParaRPr lang="en-US" sz="1875" dirty="0"/>
          </a:p>
        </p:txBody>
      </p:sp>
      <p:sp>
        <p:nvSpPr>
          <p:cNvPr id="51" name="Shape 49"/>
          <p:cNvSpPr/>
          <p:nvPr/>
        </p:nvSpPr>
        <p:spPr>
          <a:xfrm>
            <a:off x="5133975" y="8863013"/>
            <a:ext cx="190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067300" y="8977313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85800" y="9965531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85800" y="9082088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85800" y="9082088"/>
            <a:ext cx="133350" cy="902494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582150" y="9082088"/>
            <a:ext cx="19050" cy="90249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028700" y="9215438"/>
            <a:ext cx="91782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 · Document the Code</a:t>
            </a:r>
            <a:endParaRPr lang="en-US" sz="2250" dirty="0"/>
          </a:p>
        </p:txBody>
      </p:sp>
      <p:sp>
        <p:nvSpPr>
          <p:cNvPr id="58" name="Text 56"/>
          <p:cNvSpPr/>
          <p:nvPr/>
        </p:nvSpPr>
        <p:spPr>
          <a:xfrm>
            <a:off x="1028700" y="9529763"/>
            <a:ext cx="917829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Documentation · UserGuide · HumanUnitTestScript · Deployment</a:t>
            </a:r>
            <a:endParaRPr lang="en-US" sz="2025" dirty="0"/>
          </a:p>
        </p:txBody>
      </p:sp>
      <p:sp>
        <p:nvSpPr>
          <p:cNvPr id="59" name="Shape 57"/>
          <p:cNvSpPr/>
          <p:nvPr/>
        </p:nvSpPr>
        <p:spPr>
          <a:xfrm>
            <a:off x="5133975" y="9984581"/>
            <a:ext cx="190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067300" y="10098881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331169" y="10203656"/>
            <a:ext cx="5624661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12169" y="10298906"/>
            <a:ext cx="5031401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Reference generated from code; ready for UAT</a:t>
            </a:r>
            <a:endParaRPr lang="en-US" sz="1875" dirty="0"/>
          </a:p>
        </p:txBody>
      </p:sp>
      <p:sp>
        <p:nvSpPr>
          <p:cNvPr id="63" name="Text 61"/>
          <p:cNvSpPr/>
          <p:nvPr/>
        </p:nvSpPr>
        <p:spPr>
          <a:xfrm>
            <a:off x="7228284" y="1240155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71500"/>
            <a:ext cx="98069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SCHEMATIC 3 — CROSS-CUTTING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85800" y="938213"/>
            <a:ext cx="9182862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852"/>
              </a:lnSpc>
              <a:buNone/>
            </a:pPr>
            <a:r>
              <a:rPr lang="en-US" sz="4650" b="1" kern="0" spc="-93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Model &amp; Effort Assignment (§1.7)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685800" y="229076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35052" y="2538413"/>
            <a:ext cx="4216822" cy="109061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054102" y="2557463"/>
            <a:ext cx="4178722" cy="1052513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01852" y="2938463"/>
            <a:ext cx="220858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§1.7 configured?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78174" y="3686175"/>
            <a:ext cx="147356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(default)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2838450" y="3957638"/>
            <a:ext cx="19050" cy="1333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62250" y="4090987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4205288"/>
            <a:ext cx="4324350" cy="1344885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357688"/>
            <a:ext cx="3996881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44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Everything runs through one model, as if §1.7 didn't exist.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31112" y="3686175"/>
            <a:ext cx="49202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429500" y="3957638"/>
            <a:ext cx="19050" cy="1333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53300" y="4090987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76850" y="4205288"/>
            <a:ext cx="4324350" cy="1344885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05450" y="4357688"/>
            <a:ext cx="3996881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9344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fixed three-role division, regardless of which models are assigned.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410450" y="5550173"/>
            <a:ext cx="1905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34250" y="5702573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" y="7743602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5950223"/>
            <a:ext cx="8915400" cy="13335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" y="5950223"/>
            <a:ext cx="19050" cy="1812429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82150" y="5950223"/>
            <a:ext cx="19050" cy="1812429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3450" y="6235973"/>
            <a:ext cx="9262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 ROLE </a:t>
            </a:r>
            <a:r>
              <a:rPr lang="en-US" sz="25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(Primary Agent; Run model like Claude Sonnet)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933450" y="6588398"/>
            <a:ext cx="8672703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03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code generation and every code edit, including applying what Light and Reasoning report. Owns ChangeLog, Object Register, ProjectMemory, TestingFeedback.md.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685800" y="937416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5800" y="7915052"/>
            <a:ext cx="8915400" cy="133350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5800" y="7915052"/>
            <a:ext cx="19050" cy="1478161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82150" y="7915052"/>
            <a:ext cx="19050" cy="1478161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3450" y="8200802"/>
            <a:ext cx="9262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LIGHT ROLE </a:t>
            </a:r>
            <a:r>
              <a:rPr lang="en-US" sz="25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(Sub-Agent; Run model like Claude Haiku)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933450" y="8553227"/>
            <a:ext cx="8672703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03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post-generation pre-flight pass only — props, Rec.-qualification, dead code, indentation, coverage, symbol verification. Reports; never edits.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685800" y="11338992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" y="9545613"/>
            <a:ext cx="8915400" cy="13335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5800" y="9545613"/>
            <a:ext cx="19050" cy="1812429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82150" y="9545613"/>
            <a:ext cx="19050" cy="1812429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33450" y="9831363"/>
            <a:ext cx="9262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 ROLE </a:t>
            </a:r>
            <a:r>
              <a:rPr lang="en-US" sz="25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(Sub-Agent; Run model like Claude Opus)</a:t>
            </a:r>
            <a:endParaRPr lang="en-US" sz="2550" dirty="0"/>
          </a:p>
        </p:txBody>
      </p:sp>
      <p:sp>
        <p:nvSpPr>
          <p:cNvPr id="37" name="Text 35"/>
          <p:cNvSpPr/>
          <p:nvPr/>
        </p:nvSpPr>
        <p:spPr>
          <a:xfrm>
            <a:off x="933450" y="10183788"/>
            <a:ext cx="8672703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103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Sanity Check, Gap-Fit Test, Code Review, FRD and TDD authorship, root-cause troubleshooting. Drafts and diagnoses; never edits code or continuity docs.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7228284" y="1240155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71500"/>
            <a:ext cx="98069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SCHEMATIC 4 — CROSS-CUTTING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85800" y="938213"/>
            <a:ext cx="9182862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852"/>
              </a:lnSpc>
              <a:buNone/>
            </a:pPr>
            <a:r>
              <a:rPr lang="en-US" sz="4650" b="1" kern="0" spc="-93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ALONG — every phase, every step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685800" y="2290763"/>
            <a:ext cx="8915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2538413"/>
            <a:ext cx="8915400" cy="9558338"/>
          </a:xfrm>
          <a:prstGeom prst="rect">
            <a:avLst/>
          </a:prstGeom>
          <a:ln w="19050">
            <a:solidFill>
              <a:srgbClr val="201E1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3450" y="2786063"/>
            <a:ext cx="8420100" cy="90630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3450" y="2786063"/>
            <a:ext cx="4200525" cy="2251472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23950" y="2957513"/>
            <a:ext cx="42014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23950" y="3328988"/>
            <a:ext cx="393411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03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Keep every required doc current, not retroactively.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5153025" y="2786063"/>
            <a:ext cx="4200525" cy="2251472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43525" y="2957513"/>
            <a:ext cx="42014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Track Changes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343525" y="3328988"/>
            <a:ext cx="393411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03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FRD/TDD deviation logged before the next batch.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33450" y="5056584"/>
            <a:ext cx="4200525" cy="2251472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23950" y="5228034"/>
            <a:ext cx="42014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Retain Explanations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23950" y="5599509"/>
            <a:ext cx="393411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03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Who decided, and why — not just the outcome.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5153025" y="5056584"/>
            <a:ext cx="4200525" cy="2251472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43525" y="5228034"/>
            <a:ext cx="42014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Testing Feedback Log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343525" y="5599509"/>
            <a:ext cx="393411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03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Verbatim findings, triaged explicitly, cross-referenced.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33450" y="7327106"/>
            <a:ext cx="4200525" cy="2251472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23950" y="7498556"/>
            <a:ext cx="42014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Project Memory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3950" y="7870031"/>
            <a:ext cx="393411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03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docs/ProjectMemory.md — an anchor, not a narrative.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5153025" y="7327106"/>
            <a:ext cx="4200525" cy="2251472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43525" y="7498556"/>
            <a:ext cx="42014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Packaging &amp; Versioning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5343525" y="7870031"/>
            <a:ext cx="393411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03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Never delete a package; propose bumps, don't apply silently.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33450" y="9597628"/>
            <a:ext cx="4200525" cy="2251472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23950" y="9769078"/>
            <a:ext cx="42014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 MCP Server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123950" y="10140553"/>
            <a:ext cx="393411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03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Bootstrap once; prefer its tools over ad hoc terminal use.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5153025" y="9597628"/>
            <a:ext cx="4200525" cy="2251472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43525" y="9769078"/>
            <a:ext cx="42014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BCQuality Snapshot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5343525" y="10140553"/>
            <a:ext cx="393411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03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Fetch once; refresh only on explicit request.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7228284" y="1240155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1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9182862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ONLYCOPILOTFANS — </a:t>
            </a:r>
          </a:p>
          <a:p>
            <a:pPr marL="0" indent="0" algn="l">
              <a:buNone/>
            </a:pPr>
            <a:r>
              <a:rPr lang="en-US" sz="1950" b="1" kern="0" spc="35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BC AGENTIC DEVELOPMENT FRAMEWORK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85800" y="4503986"/>
            <a:ext cx="9182862" cy="3055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1538"/>
              </a:lnSpc>
              <a:buNone/>
            </a:pPr>
            <a:r>
              <a:rPr lang="en-US" sz="5400" b="1" kern="0" spc="-162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Simple Enough for Functional Consultants. </a:t>
            </a:r>
          </a:p>
          <a:p>
            <a:pPr marL="0" indent="0" algn="l">
              <a:lnSpc>
                <a:spcPct val="101538"/>
              </a:lnSpc>
              <a:buNone/>
            </a:pPr>
            <a:r>
              <a:rPr lang="en-US" sz="5400" b="1" kern="0" spc="-162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Robust Enough for Pro Developers.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685800" y="7902327"/>
            <a:ext cx="8915400" cy="1905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8302377"/>
            <a:ext cx="98069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Created by AJ Ansari, Microsoft MVP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11906250"/>
            <a:ext cx="2228850" cy="9525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14650" y="11906250"/>
            <a:ext cx="2228850" cy="95250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43500" y="11906250"/>
            <a:ext cx="2228850" cy="9525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72350" y="11906250"/>
            <a:ext cx="2228850" cy="95250"/>
          </a:xfrm>
          <a:prstGeom prst="rect">
            <a:avLst/>
          </a:prstGeom>
          <a:solidFill>
            <a:srgbClr val="C10E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28284" y="1240155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3F2F2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B490F06-F0BB-4348-96CC-26A5A71292B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04cc16e-f1b4-44a3-a525-9f171d0c79d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1077</Words>
  <Application>Microsoft Macintosh PowerPoint</Application>
  <PresentationFormat>Custom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Archivo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 Ansari</cp:lastModifiedBy>
  <cp:revision>4</cp:revision>
  <dcterms:created xsi:type="dcterms:W3CDTF">2026-09-12T12:01:06Z</dcterms:created>
  <dcterms:modified xsi:type="dcterms:W3CDTF">2026-09-12T13:22:06Z</dcterms:modified>
</cp:coreProperties>
</file>